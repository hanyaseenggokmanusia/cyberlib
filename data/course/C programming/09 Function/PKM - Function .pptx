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28"/>
  </p:notesMasterIdLst>
  <p:handoutMasterIdLst>
    <p:handoutMasterId r:id="rId29"/>
  </p:handoutMasterIdLst>
  <p:sldIdLst>
    <p:sldId id="344" r:id="rId2"/>
    <p:sldId id="267" r:id="rId3"/>
    <p:sldId id="340" r:id="rId4"/>
    <p:sldId id="303" r:id="rId5"/>
    <p:sldId id="304" r:id="rId6"/>
    <p:sldId id="305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9" r:id="rId19"/>
    <p:sldId id="321" r:id="rId20"/>
    <p:sldId id="320" r:id="rId21"/>
    <p:sldId id="322" r:id="rId22"/>
    <p:sldId id="323" r:id="rId23"/>
    <p:sldId id="324" r:id="rId24"/>
    <p:sldId id="325" r:id="rId25"/>
    <p:sldId id="342" r:id="rId26"/>
    <p:sldId id="343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94660"/>
  </p:normalViewPr>
  <p:slideViewPr>
    <p:cSldViewPr>
      <p:cViewPr varScale="1">
        <p:scale>
          <a:sx n="62" d="100"/>
          <a:sy n="62" d="100"/>
        </p:scale>
        <p:origin x="11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0"/>
    </p:cViewPr>
  </p:sorterViewPr>
  <p:notesViewPr>
    <p:cSldViewPr>
      <p:cViewPr varScale="1">
        <p:scale>
          <a:sx n="51" d="100"/>
          <a:sy n="51" d="100"/>
        </p:scale>
        <p:origin x="-12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endParaRPr lang="id-ID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B4D50E42-D4C0-4BEA-B894-915762B843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11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endParaRPr lang="id-ID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id-ID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7AC6D2AD-5AB0-4189-9E6C-33DF05FFC2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3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4DE58D-C7CF-4D04-AC33-F1B33285F173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57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049A52-A7A1-471C-B7EA-F9DD6FEA20D9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27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B4E590-311E-4314-824B-27C7E4001AA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97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461E3E-DF22-43EA-8885-7713A9DDE0B0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62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C62C82-9B36-4FC1-AE31-A29A3A9303DF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20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3117F1-67DB-4D7E-A279-55DCFE39EF8E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33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30EEA7-3F41-47B4-A8BF-7BD9FA815A33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31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BCABCF-27B7-4796-851F-46FD439C9F7A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10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C0085A-B02D-43C7-831D-9C9FDFE37A5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80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5E5896-3D2D-4407-A786-7F54E52E9194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95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D705D0-8954-497A-ACFA-39CE520A0D85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21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25C8CA-CB01-41BF-8C8D-5E83DE3891AD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70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063DE1-6878-43F1-9501-0177B01C6947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73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889009-9279-4706-99D8-897311321C0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91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2C65FA-C0D5-4F6C-BD58-9B957F471699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8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6E42CA-A6C7-46D9-B7A8-719F1C1E29A5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17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AEFC10-EEBF-4C16-9A2B-370AD95F193F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17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0AD921-E117-4ACA-BFBF-F4933F11D470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1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E55122-2B9B-48B2-8996-E68B37105CF1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22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2732AF-0C0A-4697-B203-9AD7B98DF5E9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6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8C9A7D-C216-4719-AB6B-376BCF7D4C03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7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C15B19-8476-4777-AC85-E0F9DDBD378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147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742168-5F40-4B24-9763-512E5EB50E61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331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672555-0BB4-4AE5-AE3F-3298823B0289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51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d-ID">
              <a:latin typeface="Arial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691E3F-96B3-48E7-B7E1-A65E5CD7BBBF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5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pPr>
              <a:defRPr/>
            </a:pPr>
            <a:fld id="{79F1580A-58C1-4F4A-AE24-54BCBB26F4B5}" type="datetime1">
              <a:rPr lang="en-US" smtClean="0"/>
              <a:pPr>
                <a:defRPr/>
              </a:pPr>
              <a:t>11/4/2022</a:t>
            </a:fld>
            <a:r>
              <a:rPr lang="en-US"/>
              <a:t>Bina Nusantara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T0016 - Algorithm and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362CD935-AA6A-463A-BBCF-86C0B05D10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NewB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371600"/>
            <a:ext cx="6837114" cy="792088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pPr>
              <a:defRPr/>
            </a:pPr>
            <a:fld id="{057A63C0-EA9B-483D-BDFB-E2A2EA334D1A}" type="datetime1">
              <a:rPr lang="en-US" smtClean="0"/>
              <a:pPr>
                <a:defRPr/>
              </a:pPr>
              <a:t>11/4/2022</a:t>
            </a:fld>
            <a:r>
              <a:rPr lang="en-US"/>
              <a:t>Bina Nusantara University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T0016 - Algorithm and Programming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86933AF6-09E7-4A58-AA4B-F698EEA8AC0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914400" y="2286000"/>
            <a:ext cx="7848600" cy="3721596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54AB93-696E-4658-A06D-36DFFCBDE45D}" type="datetime1">
              <a:rPr lang="en-US" smtClean="0"/>
              <a:pPr>
                <a:defRPr/>
              </a:pPr>
              <a:t>11/4/2022</a:t>
            </a:fld>
            <a:r>
              <a:rPr lang="en-US"/>
              <a:t>Bina Nusantara University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T0016 - Algorithm and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4558-68D5-467B-A046-28B397B54C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8ED46D-CBE7-4E3E-A9C5-70449159BBBF}" type="datetime1">
              <a:rPr lang="en-US" smtClean="0"/>
              <a:pPr>
                <a:defRPr/>
              </a:pPr>
              <a:t>11/4/2022</a:t>
            </a:fld>
            <a:r>
              <a:rPr lang="en-US"/>
              <a:t>Bina Nusantara University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T0016 - Algorithm and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E261-6C78-4371-8FD2-DA03E5EA9A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D19CE6-6954-40BD-BABC-90071A471EC6}" type="datetime1">
              <a:rPr lang="en-US" smtClean="0"/>
              <a:pPr>
                <a:defRPr/>
              </a:pPr>
              <a:t>11/4/2022</a:t>
            </a:fld>
            <a:r>
              <a:rPr lang="en-US"/>
              <a:t>Bina Nusantara University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T0016 - Algorithm and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51A05-CE88-4DD4-917D-0BAC10E11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7A63C0-EA9B-483D-BDFB-E2A2EA334D1A}" type="datetime1">
              <a:rPr lang="en-US" smtClean="0"/>
              <a:pPr>
                <a:defRPr/>
              </a:pPr>
              <a:t>11/4/2022</a:t>
            </a:fld>
            <a:r>
              <a:rPr lang="en-US"/>
              <a:t>Bina Nusantara University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T0016 - Algorithm and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33AF6-09E7-4A58-AA4B-F698EEA8AC0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5696" y="3327127"/>
            <a:ext cx="7128792" cy="1470025"/>
          </a:xfrm>
        </p:spPr>
        <p:txBody>
          <a:bodyPr>
            <a:normAutofit/>
          </a:bodyPr>
          <a:lstStyle/>
          <a:p>
            <a:r>
              <a:rPr lang="en-AU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Function</a:t>
            </a:r>
            <a:endParaRPr lang="id-ID" sz="3200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57200" y="1828800"/>
            <a:ext cx="87868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</a:tabLst>
            </a:pPr>
            <a:r>
              <a:rPr lang="id-ID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	  </a:t>
            </a:r>
            <a:r>
              <a:rPr lang="en-US" sz="24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C  PROGRAMMING</a:t>
            </a: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Learning Outcomes</a:t>
            </a:r>
          </a:p>
        </p:txBody>
      </p:sp>
      <p:sp>
        <p:nvSpPr>
          <p:cNvPr id="409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C8AB96-3712-43ED-A9BA-FE8C91975E01}" type="slidenum">
              <a:rPr lang="en-US">
                <a:latin typeface="Tahoma" pitchFamily="34" charset="0"/>
                <a:cs typeface="Tahoma" pitchFamily="34" charset="0"/>
              </a:rPr>
              <a:pPr/>
              <a:t>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1313" indent="-341313" defTabSz="457200">
              <a:spcBef>
                <a:spcPts val="700"/>
              </a:spcBef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At the end of this session, student will be able to:</a:t>
            </a:r>
          </a:p>
          <a:p>
            <a:pPr marL="341313" indent="-341313" defTabSz="45720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Write a program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ini</a:t>
            </a:r>
            <a:r>
              <a:rPr lang="en-US" dirty="0">
                <a:latin typeface="Tahoma" pitchFamily="34" charset="0"/>
                <a:cs typeface="Tahoma" pitchFamily="34" charset="0"/>
              </a:rPr>
              <a:t> C using functions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Sub Topics</a:t>
            </a:r>
          </a:p>
        </p:txBody>
      </p:sp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54D3F1-A591-4D0F-84C1-8E20D1E66EA7}" type="slidenum">
              <a:rPr lang="en-US">
                <a:latin typeface="Tahoma" pitchFamily="34" charset="0"/>
                <a:cs typeface="Tahoma" pitchFamily="34" charset="0"/>
              </a:rPr>
              <a:pPr/>
              <a:t>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Tahoma" pitchFamily="34" charset="0"/>
                <a:cs typeface="Tahoma" pitchFamily="34" charset="0"/>
              </a:rPr>
              <a:t>Function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ahoma" pitchFamily="34" charset="0"/>
                <a:cs typeface="Tahoma" pitchFamily="34" charset="0"/>
              </a:rPr>
              <a:t>Modular Programming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ahoma" pitchFamily="34" charset="0"/>
                <a:cs typeface="Tahoma" pitchFamily="34" charset="0"/>
              </a:rPr>
              <a:t>Function Definition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ahoma" pitchFamily="34" charset="0"/>
                <a:cs typeface="Tahoma" pitchFamily="34" charset="0"/>
              </a:rPr>
              <a:t>Function Prototype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ahoma" pitchFamily="34" charset="0"/>
                <a:cs typeface="Tahoma" pitchFamily="34" charset="0"/>
              </a:rPr>
              <a:t>Identifier Scoping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ahoma" pitchFamily="34" charset="0"/>
                <a:cs typeface="Tahoma" pitchFamily="34" charset="0"/>
              </a:rPr>
              <a:t>Passing Parameter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ahoma" pitchFamily="34" charset="0"/>
                <a:cs typeface="Tahoma" pitchFamily="34" charset="0"/>
              </a:rPr>
              <a:t>Program Examples Using Function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Modular Programming</a:t>
            </a:r>
          </a:p>
        </p:txBody>
      </p:sp>
      <p:sp>
        <p:nvSpPr>
          <p:cNvPr id="614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238B04-A79D-4E1F-BB34-5EC0710FE743}" type="slidenum">
              <a:rPr lang="en-US">
                <a:latin typeface="Tahoma" pitchFamily="34" charset="0"/>
                <a:cs typeface="Tahoma" pitchFamily="34" charset="0"/>
              </a:rPr>
              <a:pPr/>
              <a:t>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Program is divided into modules</a:t>
            </a: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Module in C programming language is implemented using </a:t>
            </a:r>
            <a:r>
              <a:rPr lang="en-US" b="1">
                <a:latin typeface="Tahoma" pitchFamily="34" charset="0"/>
                <a:cs typeface="Tahoma" pitchFamily="34" charset="0"/>
              </a:rPr>
              <a:t>function</a:t>
            </a: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>
                <a:latin typeface="Tahoma" pitchFamily="34" charset="0"/>
                <a:cs typeface="Tahoma" pitchFamily="34" charset="0"/>
              </a:rPr>
              <a:t>Function </a:t>
            </a:r>
            <a:r>
              <a:rPr lang="en-US">
                <a:latin typeface="Tahoma" pitchFamily="34" charset="0"/>
                <a:cs typeface="Tahoma" pitchFamily="34" charset="0"/>
              </a:rPr>
              <a:t>is formed through grouping some statements to do a particular job</a:t>
            </a: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Module is needed when a certain block of statement frequently used by other distinct code in a program</a:t>
            </a: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Also called </a:t>
            </a:r>
            <a:r>
              <a:rPr lang="en-US" b="1">
                <a:latin typeface="Tahoma" pitchFamily="34" charset="0"/>
                <a:cs typeface="Tahoma" pitchFamily="34" charset="0"/>
              </a:rPr>
              <a:t>Sub-Program</a:t>
            </a:r>
          </a:p>
          <a:p>
            <a:pPr marL="341313" indent="-341313" defTabSz="457200">
              <a:lnSpc>
                <a:spcPct val="90000"/>
              </a:lnSpc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Modular Programming</a:t>
            </a:r>
          </a:p>
        </p:txBody>
      </p:sp>
      <p:sp>
        <p:nvSpPr>
          <p:cNvPr id="717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509A4F-B10E-4A34-ACA0-578B57E844A5}" type="slidenum">
              <a:rPr lang="en-US">
                <a:latin typeface="Tahoma" pitchFamily="34" charset="0"/>
                <a:cs typeface="Tahoma" pitchFamily="34" charset="0"/>
              </a:rPr>
              <a:pPr/>
              <a:t>5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>
                <a:latin typeface="Tahoma" pitchFamily="34" charset="0"/>
                <a:cs typeface="Tahoma" pitchFamily="34" charset="0"/>
              </a:rPr>
              <a:t>Advantages of using Modules:</a:t>
            </a:r>
          </a:p>
          <a:p>
            <a:pPr marL="857250" lvl="1" indent="-457200" defTabSz="457200">
              <a:spcBef>
                <a:spcPts val="600"/>
              </a:spcBef>
              <a:buFont typeface="Interstate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Tahoma" pitchFamily="34" charset="0"/>
                <a:cs typeface="Tahoma" pitchFamily="34" charset="0"/>
              </a:rPr>
              <a:t>Top-down design with sub goal, huge program divided into smaller modules</a:t>
            </a:r>
          </a:p>
          <a:p>
            <a:pPr marL="857250" lvl="1" indent="-457200" defTabSz="457200">
              <a:spcBef>
                <a:spcPts val="600"/>
              </a:spcBef>
              <a:buFont typeface="Interstate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Tahoma" pitchFamily="34" charset="0"/>
                <a:cs typeface="Tahoma" pitchFamily="34" charset="0"/>
              </a:rPr>
              <a:t>Can be done by more than one developer/ programmer</a:t>
            </a:r>
          </a:p>
          <a:p>
            <a:pPr marL="857250" lvl="1" indent="-457200" defTabSz="457200">
              <a:spcBef>
                <a:spcPts val="600"/>
              </a:spcBef>
              <a:buFont typeface="Interstate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Tahoma" pitchFamily="34" charset="0"/>
                <a:cs typeface="Tahoma" pitchFamily="34" charset="0"/>
              </a:rPr>
              <a:t>Easier to debug, as logical flow is easy to follow and easier to pin point errors</a:t>
            </a:r>
          </a:p>
          <a:p>
            <a:pPr marL="857250" lvl="1" indent="-457200" defTabSz="457200">
              <a:spcBef>
                <a:spcPts val="600"/>
              </a:spcBef>
              <a:buFont typeface="Interstate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Tahoma" pitchFamily="34" charset="0"/>
                <a:cs typeface="Tahoma" pitchFamily="34" charset="0"/>
              </a:rPr>
              <a:t>Modification can be done without affecting overall codes</a:t>
            </a:r>
          </a:p>
          <a:p>
            <a:pPr marL="857250" lvl="1" indent="-457200" defTabSz="457200">
              <a:spcBef>
                <a:spcPts val="600"/>
              </a:spcBef>
              <a:buFont typeface="Interstate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Tahoma" pitchFamily="34" charset="0"/>
                <a:cs typeface="Tahoma" pitchFamily="34" charset="0"/>
              </a:rPr>
              <a:t>Easier to document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Modular Programming</a:t>
            </a:r>
          </a:p>
        </p:txBody>
      </p:sp>
      <p:sp>
        <p:nvSpPr>
          <p:cNvPr id="819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494329D-E946-47D7-9E61-26C77A649A0C}" type="slidenum">
              <a:rPr lang="en-US">
                <a:latin typeface="Tahoma" pitchFamily="34" charset="0"/>
                <a:cs typeface="Tahoma" pitchFamily="34" charset="0"/>
              </a:rPr>
              <a:pPr/>
              <a:t>6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C programming language implements modular programming using function</a:t>
            </a:r>
          </a:p>
          <a:p>
            <a:pPr marL="341313" indent="-34131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>
                <a:latin typeface="Tahoma" pitchFamily="34" charset="0"/>
                <a:cs typeface="Tahoma" pitchFamily="34" charset="0"/>
              </a:rPr>
              <a:t>Example of dividing program into subprograms</a:t>
            </a:r>
          </a:p>
        </p:txBody>
      </p:sp>
      <p:grpSp>
        <p:nvGrpSpPr>
          <p:cNvPr id="8198" name="Group 4"/>
          <p:cNvGrpSpPr>
            <a:grpSpLocks/>
          </p:cNvGrpSpPr>
          <p:nvPr/>
        </p:nvGrpSpPr>
        <p:grpSpPr bwMode="auto">
          <a:xfrm>
            <a:off x="1828800" y="3586163"/>
            <a:ext cx="5348288" cy="2586037"/>
            <a:chOff x="1152" y="1968"/>
            <a:chExt cx="3369" cy="1629"/>
          </a:xfrm>
        </p:grpSpPr>
        <p:sp>
          <p:nvSpPr>
            <p:cNvPr id="8199" name="Rectangle 5"/>
            <p:cNvSpPr>
              <a:spLocks noChangeArrowheads="1"/>
            </p:cNvSpPr>
            <p:nvPr/>
          </p:nvSpPr>
          <p:spPr bwMode="auto">
            <a:xfrm>
              <a:off x="2078" y="1968"/>
              <a:ext cx="1369" cy="260"/>
            </a:xfrm>
            <a:prstGeom prst="rect">
              <a:avLst/>
            </a:prstGeom>
            <a:solidFill>
              <a:srgbClr val="CCFFCC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600" tIns="12600" rIns="12600" bIns="12600"/>
            <a:lstStyle/>
            <a:p>
              <a:pPr algn="ctr"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2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Main Program</a:t>
              </a:r>
            </a:p>
          </p:txBody>
        </p:sp>
        <p:sp>
          <p:nvSpPr>
            <p:cNvPr id="8200" name="Rectangle 6"/>
            <p:cNvSpPr>
              <a:spLocks noChangeArrowheads="1"/>
            </p:cNvSpPr>
            <p:nvPr/>
          </p:nvSpPr>
          <p:spPr bwMode="auto">
            <a:xfrm>
              <a:off x="1152" y="2626"/>
              <a:ext cx="1048" cy="250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600" tIns="12600" rIns="12600" bIns="12600"/>
            <a:lstStyle/>
            <a:p>
              <a:pPr algn="ctr"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2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SubProgram</a:t>
              </a:r>
              <a:r>
                <a:rPr lang="en-US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 </a:t>
              </a:r>
            </a:p>
          </p:txBody>
        </p:sp>
        <p:sp>
          <p:nvSpPr>
            <p:cNvPr id="8201" name="Rectangle 7"/>
            <p:cNvSpPr>
              <a:spLocks noChangeArrowheads="1"/>
            </p:cNvSpPr>
            <p:nvPr/>
          </p:nvSpPr>
          <p:spPr bwMode="auto">
            <a:xfrm>
              <a:off x="1746" y="3348"/>
              <a:ext cx="1048" cy="250"/>
            </a:xfrm>
            <a:prstGeom prst="rect">
              <a:avLst/>
            </a:prstGeom>
            <a:solidFill>
              <a:srgbClr val="FF99CC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600" tIns="12600" rIns="12600" bIns="12600"/>
            <a:lstStyle/>
            <a:p>
              <a:pPr algn="ctr"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200" dirty="0" err="1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SubProgram</a:t>
              </a:r>
              <a:r>
                <a:rPr lang="en-US" sz="2200" dirty="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 </a:t>
              </a:r>
            </a:p>
          </p:txBody>
        </p:sp>
        <p:sp>
          <p:nvSpPr>
            <p:cNvPr id="8202" name="Rectangle 8"/>
            <p:cNvSpPr>
              <a:spLocks noChangeArrowheads="1"/>
            </p:cNvSpPr>
            <p:nvPr/>
          </p:nvSpPr>
          <p:spPr bwMode="auto">
            <a:xfrm>
              <a:off x="2310" y="2613"/>
              <a:ext cx="1048" cy="250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600" tIns="12600" rIns="12600" bIns="12600"/>
            <a:lstStyle/>
            <a:p>
              <a:pPr algn="ctr"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2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SubProgram </a:t>
              </a:r>
            </a:p>
          </p:txBody>
        </p:sp>
        <p:sp>
          <p:nvSpPr>
            <p:cNvPr id="8203" name="Rectangle 9"/>
            <p:cNvSpPr>
              <a:spLocks noChangeArrowheads="1"/>
            </p:cNvSpPr>
            <p:nvPr/>
          </p:nvSpPr>
          <p:spPr bwMode="auto">
            <a:xfrm>
              <a:off x="3474" y="2609"/>
              <a:ext cx="1048" cy="250"/>
            </a:xfrm>
            <a:prstGeom prst="rect">
              <a:avLst/>
            </a:prstGeom>
            <a:solidFill>
              <a:srgbClr val="99CCFF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600" tIns="12600" rIns="12600" bIns="12600"/>
            <a:lstStyle/>
            <a:p>
              <a:pPr algn="ctr"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2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SubProgram </a:t>
              </a:r>
            </a:p>
          </p:txBody>
        </p:sp>
        <p:sp>
          <p:nvSpPr>
            <p:cNvPr id="8204" name="Rectangle 10"/>
            <p:cNvSpPr>
              <a:spLocks noChangeArrowheads="1"/>
            </p:cNvSpPr>
            <p:nvPr/>
          </p:nvSpPr>
          <p:spPr bwMode="auto">
            <a:xfrm>
              <a:off x="3000" y="3343"/>
              <a:ext cx="1048" cy="249"/>
            </a:xfrm>
            <a:prstGeom prst="rect">
              <a:avLst/>
            </a:prstGeom>
            <a:solidFill>
              <a:srgbClr val="FF99CC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2600" tIns="12600" rIns="12600" bIns="12600"/>
            <a:lstStyle/>
            <a:p>
              <a:pPr algn="ctr"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2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SubProgram</a:t>
              </a:r>
              <a:r>
                <a:rPr lang="en-US" sz="240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rPr>
                <a:t> </a:t>
              </a:r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>
              <a:off x="1666" y="2408"/>
              <a:ext cx="2286" cy="1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1654" y="2408"/>
              <a:ext cx="1" cy="210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>
              <a:off x="3952" y="2414"/>
              <a:ext cx="1" cy="186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2824" y="2234"/>
              <a:ext cx="1" cy="372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2218" y="3124"/>
              <a:ext cx="1" cy="210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10" name="Line 16"/>
            <p:cNvSpPr>
              <a:spLocks noChangeShapeType="1"/>
            </p:cNvSpPr>
            <p:nvPr/>
          </p:nvSpPr>
          <p:spPr bwMode="auto">
            <a:xfrm>
              <a:off x="3502" y="3124"/>
              <a:ext cx="1" cy="210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11" name="Line 17"/>
            <p:cNvSpPr>
              <a:spLocks noChangeShapeType="1"/>
            </p:cNvSpPr>
            <p:nvPr/>
          </p:nvSpPr>
          <p:spPr bwMode="auto">
            <a:xfrm>
              <a:off x="2218" y="3122"/>
              <a:ext cx="1284" cy="1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212" name="Line 18"/>
            <p:cNvSpPr>
              <a:spLocks noChangeShapeType="1"/>
            </p:cNvSpPr>
            <p:nvPr/>
          </p:nvSpPr>
          <p:spPr bwMode="auto">
            <a:xfrm>
              <a:off x="2836" y="2881"/>
              <a:ext cx="1" cy="229"/>
            </a:xfrm>
            <a:prstGeom prst="line">
              <a:avLst/>
            </a:prstGeom>
            <a:noFill/>
            <a:ln w="2556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Library </a:t>
            </a:r>
            <a:r>
              <a:rPr lang="id-ID" b="1">
                <a:latin typeface="Tahoma" pitchFamily="34" charset="0"/>
                <a:cs typeface="Tahoma" pitchFamily="34" charset="0"/>
              </a:rPr>
              <a:t>vs </a:t>
            </a:r>
            <a:r>
              <a:rPr lang="en-US" b="1">
                <a:latin typeface="Tahoma" pitchFamily="34" charset="0"/>
                <a:cs typeface="Tahoma" pitchFamily="34" charset="0"/>
              </a:rPr>
              <a:t>User-Defined Function</a:t>
            </a:r>
          </a:p>
        </p:txBody>
      </p:sp>
      <p:sp>
        <p:nvSpPr>
          <p:cNvPr id="1024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EF0E87-4D80-40FC-A023-84B597B33EC5}" type="slidenum">
              <a:rPr lang="en-US">
                <a:latin typeface="Tahoma" pitchFamily="34" charset="0"/>
                <a:cs typeface="Tahoma" pitchFamily="34" charset="0"/>
              </a:rPr>
              <a:pPr/>
              <a:t>7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86000"/>
            <a:ext cx="7848600" cy="3886200"/>
          </a:xfrm>
        </p:spPr>
        <p:txBody>
          <a:bodyPr>
            <a:normAutofit/>
          </a:bodyPr>
          <a:lstStyle/>
          <a:p>
            <a:pPr marL="341313" indent="-341313" defTabSz="457200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Function in C divided in two types :</a:t>
            </a:r>
          </a:p>
          <a:p>
            <a:pPr marL="741363" lvl="1" indent="-284163" defTabSz="457200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Library function</a:t>
            </a:r>
          </a:p>
          <a:p>
            <a:pPr marL="741363" lvl="1" indent="-284163" defTabSz="457200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User-defined function</a:t>
            </a:r>
          </a:p>
          <a:p>
            <a:pPr marL="741363" lvl="1" indent="-284163" defTabSz="457200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dirty="0">
                <a:latin typeface="Tahoma" pitchFamily="34" charset="0"/>
                <a:cs typeface="Tahoma" pitchFamily="34" charset="0"/>
              </a:rPr>
              <a:t>Library function</a:t>
            </a:r>
            <a:r>
              <a:rPr lang="en-US" dirty="0">
                <a:latin typeface="Tahoma" pitchFamily="34" charset="0"/>
                <a:cs typeface="Tahoma" pitchFamily="34" charset="0"/>
              </a:rPr>
              <a:t>, is a standard function provided by C compiler. Those function described in the header files (.h)</a:t>
            </a:r>
          </a:p>
          <a:p>
            <a:pPr marL="341313" indent="-341313" defTabSz="457200">
              <a:lnSpc>
                <a:spcPct val="80000"/>
              </a:lnSpc>
              <a:spcBef>
                <a:spcPts val="7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ahoma" pitchFamily="34" charset="0"/>
                <a:cs typeface="Tahoma" pitchFamily="34" charset="0"/>
              </a:rPr>
              <a:t>	Example:  	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strcpy</a:t>
            </a:r>
            <a:r>
              <a:rPr lang="id-ID" dirty="0">
                <a:latin typeface="Tahoma" pitchFamily="34" charset="0"/>
                <a:cs typeface="Tahoma" pitchFamily="34" charset="0"/>
              </a:rPr>
              <a:t>() in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string.h</a:t>
            </a:r>
            <a:endParaRPr lang="id-ID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lnSpc>
                <a:spcPct val="80000"/>
              </a:lnSpc>
              <a:spcBef>
                <a:spcPts val="7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d-ID" dirty="0">
                <a:latin typeface="Tahoma" pitchFamily="34" charset="0"/>
                <a:cs typeface="Tahoma" pitchFamily="34" charset="0"/>
              </a:rPr>
              <a:t>			sqrt() in math.h</a:t>
            </a:r>
          </a:p>
          <a:p>
            <a:pPr marL="341313" indent="-341313" defTabSz="457200">
              <a:lnSpc>
                <a:spcPct val="80000"/>
              </a:lnSpc>
              <a:spcBef>
                <a:spcPts val="700"/>
              </a:spcBef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d-ID" dirty="0">
                <a:latin typeface="Tahoma" pitchFamily="34" charset="0"/>
                <a:cs typeface="Tahoma" pitchFamily="34" charset="0"/>
              </a:rPr>
              <a:t>			printf() in stdio.h</a:t>
            </a:r>
          </a:p>
          <a:p>
            <a:pPr marL="341313" indent="-341313" defTabSz="457200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lnSpc>
                <a:spcPct val="8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dirty="0">
                <a:latin typeface="Tahoma" pitchFamily="34" charset="0"/>
                <a:cs typeface="Tahoma" pitchFamily="34" charset="0"/>
              </a:rPr>
              <a:t>User-defined function</a:t>
            </a:r>
            <a:r>
              <a:rPr lang="en-US" dirty="0">
                <a:latin typeface="Tahoma" pitchFamily="34" charset="0"/>
                <a:cs typeface="Tahoma" pitchFamily="34" charset="0"/>
              </a:rPr>
              <a:t> is self defined functions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Library </a:t>
            </a:r>
            <a:r>
              <a:rPr lang="id-ID" b="1">
                <a:latin typeface="Tahoma" pitchFamily="34" charset="0"/>
                <a:cs typeface="Tahoma" pitchFamily="34" charset="0"/>
              </a:rPr>
              <a:t>vs </a:t>
            </a:r>
            <a:r>
              <a:rPr lang="en-US" b="1">
                <a:latin typeface="Tahoma" pitchFamily="34" charset="0"/>
                <a:cs typeface="Tahoma" pitchFamily="34" charset="0"/>
              </a:rPr>
              <a:t>User-Defined Function</a:t>
            </a:r>
          </a:p>
        </p:txBody>
      </p:sp>
      <p:sp>
        <p:nvSpPr>
          <p:cNvPr id="1126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8308AF-08A9-4091-A194-785908B38F57}" type="slidenum">
              <a:rPr lang="en-US">
                <a:latin typeface="Tahoma" pitchFamily="34" charset="0"/>
                <a:cs typeface="Tahoma" pitchFamily="34" charset="0"/>
              </a:rPr>
              <a:pPr/>
              <a:t>8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1270" name="Text Box 4"/>
          <p:cNvSpPr>
            <a:spLocks noGrp="1" noChangeArrowheads="1"/>
          </p:cNvSpPr>
          <p:nvPr>
            <p:ph idx="1"/>
          </p:nvPr>
        </p:nvSpPr>
        <p:spPr>
          <a:xfrm>
            <a:off x="990600" y="2133600"/>
            <a:ext cx="7848600" cy="710067"/>
          </a:xfrm>
          <a:ln w="9360">
            <a:solidFill>
              <a:srgbClr val="000000"/>
            </a:solidFill>
          </a:ln>
        </p:spPr>
        <p:txBody>
          <a:bodyPr wrap="square" lIns="90000" tIns="46800" rIns="90000" bIns="46800">
            <a:spAutoFit/>
          </a:bodyPr>
          <a:lstStyle/>
          <a:p>
            <a:pPr defTabSz="457200">
              <a:spcBef>
                <a:spcPct val="0"/>
              </a:spcBef>
              <a:buClr>
                <a:srgbClr val="000000"/>
              </a:buClr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Example:</a:t>
            </a:r>
          </a:p>
          <a:p>
            <a:pPr defTabSz="457200">
              <a:spcBef>
                <a:spcPct val="0"/>
              </a:spcBef>
              <a:buClr>
                <a:srgbClr val="000000"/>
              </a:buClr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Program using Standard Library Function : </a:t>
            </a:r>
            <a:r>
              <a:rPr lang="id-ID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printf and sqrt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90600" y="2935287"/>
            <a:ext cx="7848600" cy="23987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#include&lt;stdio.h&gt;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#include&lt;math.h&gt;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int main() {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	int i;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	for(i=0; i&lt;6; i++)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		printf(“%d %f”,i,sqrt(i));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marL="342900" indent="-342900" defTabSz="457200" eaLnBrk="0" hangingPunct="0">
              <a:lnSpc>
                <a:spcPct val="80000"/>
              </a:lnSpc>
              <a:spcBef>
                <a:spcPts val="60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/>
            </a:pPr>
            <a:r>
              <a:rPr lang="id-ID" sz="18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Function Definition</a:t>
            </a:r>
          </a:p>
        </p:txBody>
      </p:sp>
      <p:sp>
        <p:nvSpPr>
          <p:cNvPr id="1229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1529BF5-545B-41D4-988E-4020F5705649}" type="slidenum">
              <a:rPr lang="en-US">
                <a:latin typeface="Tahoma" pitchFamily="34" charset="0"/>
                <a:cs typeface="Tahoma" pitchFamily="34" charset="0"/>
              </a:rPr>
              <a:pPr/>
              <a:t>9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2293" name="Rectangle 3"/>
          <p:cNvSpPr txBox="1">
            <a:spLocks noChangeArrowheads="1"/>
          </p:cNvSpPr>
          <p:nvPr/>
        </p:nvSpPr>
        <p:spPr bwMode="auto">
          <a:xfrm>
            <a:off x="914400" y="2027237"/>
            <a:ext cx="80772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Function Construction</a:t>
            </a:r>
          </a:p>
          <a:p>
            <a:pPr marL="341313" indent="-341313" defTabSz="457200">
              <a:lnSpc>
                <a:spcPct val="80000"/>
              </a:lnSpc>
              <a:spcBef>
                <a:spcPts val="500"/>
              </a:spcBef>
              <a:buFontTx/>
              <a:buChar char=" 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i="1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lnSpc>
                <a:spcPct val="80000"/>
              </a:lnSpc>
              <a:spcBef>
                <a:spcPts val="500"/>
              </a:spcBef>
              <a:buFontTx/>
              <a:buChar char=" 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i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return-value-type</a:t>
            </a:r>
            <a:r>
              <a:rPr lang="en-US" sz="2000" b="1" i="1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i="1" dirty="0">
                <a:latin typeface="Tahoma" pitchFamily="34" charset="0"/>
                <a:cs typeface="Tahoma" pitchFamily="34" charset="0"/>
              </a:rPr>
              <a:t> function-name( </a:t>
            </a:r>
            <a:r>
              <a:rPr lang="en-US" sz="2000" b="1" i="1" dirty="0">
                <a:solidFill>
                  <a:srgbClr val="0000FF"/>
                </a:solidFill>
                <a:latin typeface="Tahoma" pitchFamily="34" charset="0"/>
                <a:cs typeface="Tahoma" pitchFamily="34" charset="0"/>
              </a:rPr>
              <a:t>parameter-list</a:t>
            </a:r>
            <a:r>
              <a:rPr lang="en-US" sz="2000" b="1" i="1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i="1" dirty="0">
                <a:latin typeface="Tahoma" pitchFamily="34" charset="0"/>
                <a:cs typeface="Tahoma" pitchFamily="34" charset="0"/>
              </a:rPr>
              <a:t>)</a:t>
            </a:r>
          </a:p>
          <a:p>
            <a:pPr marL="341313" indent="-341313" defTabSz="457200">
              <a:lnSpc>
                <a:spcPct val="80000"/>
              </a:lnSpc>
              <a:spcBef>
                <a:spcPts val="500"/>
              </a:spcBef>
              <a:buFontTx/>
              <a:buChar char=" 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i="1" dirty="0">
                <a:latin typeface="Tahoma" pitchFamily="34" charset="0"/>
                <a:cs typeface="Tahoma" pitchFamily="34" charset="0"/>
              </a:rPr>
              <a:t>{</a:t>
            </a:r>
            <a:br>
              <a:rPr lang="en-US" sz="2000" i="1" dirty="0">
                <a:latin typeface="Tahoma" pitchFamily="34" charset="0"/>
                <a:cs typeface="Tahoma" pitchFamily="34" charset="0"/>
              </a:rPr>
            </a:br>
            <a:r>
              <a:rPr lang="en-US" sz="2000" i="1" dirty="0">
                <a:latin typeface="Tahoma" pitchFamily="34" charset="0"/>
                <a:cs typeface="Tahoma" pitchFamily="34" charset="0"/>
              </a:rPr>
              <a:t>   statements;</a:t>
            </a:r>
          </a:p>
          <a:p>
            <a:pPr marL="341313" indent="-341313" defTabSz="457200">
              <a:lnSpc>
                <a:spcPct val="80000"/>
              </a:lnSpc>
              <a:spcBef>
                <a:spcPts val="500"/>
              </a:spcBef>
              <a:buFontTx/>
              <a:buChar char=" 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i="1" dirty="0">
                <a:latin typeface="Tahoma" pitchFamily="34" charset="0"/>
                <a:cs typeface="Tahoma" pitchFamily="34" charset="0"/>
              </a:rPr>
              <a:t>} </a:t>
            </a:r>
          </a:p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return-value-type: 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data type of the value returned</a:t>
            </a:r>
          </a:p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not filled, then default data type will be used (default integer)</a:t>
            </a:r>
          </a:p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</a:t>
            </a:r>
            <a:r>
              <a:rPr lang="en-US" sz="2000" b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return-value-type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is void then the function will not return value</a:t>
            </a:r>
          </a:p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buClr>
                <a:srgbClr val="0000FF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FF"/>
              </a:solidFill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buClr>
                <a:srgbClr val="0000FF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solidFill>
                  <a:srgbClr val="0000FF"/>
                </a:solidFill>
                <a:latin typeface="Tahoma" pitchFamily="34" charset="0"/>
                <a:cs typeface="Tahoma" pitchFamily="34" charset="0"/>
              </a:rPr>
              <a:t>Parameter-list</a:t>
            </a:r>
            <a:r>
              <a:rPr lang="en-US" sz="2000" b="1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:</a:t>
            </a:r>
            <a:r>
              <a:rPr lang="en-US" sz="2000" b="1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list of value sent from the function initiator (user)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Function Definition</a:t>
            </a:r>
          </a:p>
        </p:txBody>
      </p:sp>
      <p:sp>
        <p:nvSpPr>
          <p:cNvPr id="1331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E2C76F-ECE3-46D8-A6FD-5AE8E112433A}" type="slidenum">
              <a:rPr lang="en-US">
                <a:latin typeface="Tahoma" pitchFamily="34" charset="0"/>
                <a:cs typeface="Tahoma" pitchFamily="34" charset="0"/>
              </a:rPr>
              <a:pPr/>
              <a:t>10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317" name="Rectangle 3"/>
          <p:cNvSpPr txBox="1">
            <a:spLocks noChangeArrowheads="1"/>
          </p:cNvSpPr>
          <p:nvPr/>
        </p:nvSpPr>
        <p:spPr bwMode="auto">
          <a:xfrm>
            <a:off x="457200" y="1752600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1313" indent="-341313" defTabSz="457200">
              <a:lnSpc>
                <a:spcPct val="8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12812" y="1905000"/>
            <a:ext cx="8231188" cy="351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marL="341313" indent="-341313" defTabSz="457200" eaLnBrk="0" hangingPunct="0">
              <a:spcBef>
                <a:spcPct val="20000"/>
              </a:spcBef>
              <a:buFontTx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US" sz="2400" kern="0" dirty="0">
                <a:latin typeface="Tahoma" pitchFamily="34" charset="0"/>
                <a:ea typeface="Tahoma" pitchFamily="34" charset="0"/>
                <a:cs typeface="Tahoma" pitchFamily="34" charset="0"/>
              </a:rPr>
              <a:t>Example :</a:t>
            </a:r>
          </a:p>
        </p:txBody>
      </p:sp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1219200" y="2844800"/>
            <a:ext cx="3886200" cy="132556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</a:t>
            </a:r>
            <a:r>
              <a:rPr lang="id-ID" sz="16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maximum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(int </a:t>
            </a:r>
            <a:r>
              <a:rPr lang="id-ID" sz="1600" dirty="0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, int </a:t>
            </a:r>
            <a:r>
              <a:rPr lang="id-ID" sz="1600" dirty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y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int max = </a:t>
            </a:r>
            <a:r>
              <a:rPr lang="id-ID" sz="1600" dirty="0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if ( </a:t>
            </a:r>
            <a:r>
              <a:rPr lang="id-ID" sz="1600" dirty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y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&gt; max) max = </a:t>
            </a:r>
            <a:r>
              <a:rPr lang="id-ID" sz="1600" dirty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y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</a:t>
            </a:r>
            <a:r>
              <a:rPr lang="id-ID" sz="16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return</a:t>
            </a:r>
            <a:r>
              <a:rPr lang="id-ID" sz="1600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max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13320" name="Text Box 5"/>
          <p:cNvSpPr txBox="1">
            <a:spLocks noChangeArrowheads="1"/>
          </p:cNvSpPr>
          <p:nvPr/>
        </p:nvSpPr>
        <p:spPr bwMode="auto">
          <a:xfrm>
            <a:off x="2286000" y="4356100"/>
            <a:ext cx="6705600" cy="13256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</a:t>
            </a:r>
            <a:r>
              <a:rPr lang="id-ID" sz="16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maximum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(int </a:t>
            </a:r>
            <a:r>
              <a:rPr lang="id-ID" sz="1600" dirty="0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, int </a:t>
            </a:r>
            <a:r>
              <a:rPr lang="id-ID" sz="1600" dirty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y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int max = </a:t>
            </a:r>
            <a:r>
              <a:rPr lang="id-ID" sz="1600" dirty="0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if ( </a:t>
            </a:r>
            <a:r>
              <a:rPr lang="id-ID" sz="1600" dirty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y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&gt; max) max = </a:t>
            </a:r>
            <a:r>
              <a:rPr lang="id-ID" sz="1600" dirty="0">
                <a:solidFill>
                  <a:srgbClr val="FF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y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</a:t>
            </a:r>
            <a:r>
              <a:rPr lang="id-ID" sz="16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return</a:t>
            </a:r>
            <a:r>
              <a:rPr lang="id-ID" sz="1600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max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13321" name="Text Box 6"/>
          <p:cNvSpPr txBox="1">
            <a:spLocks noChangeArrowheads="1"/>
          </p:cNvSpPr>
          <p:nvPr/>
        </p:nvSpPr>
        <p:spPr bwMode="auto">
          <a:xfrm>
            <a:off x="6934200" y="2616200"/>
            <a:ext cx="1143000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Function</a:t>
            </a:r>
          </a:p>
        </p:txBody>
      </p:sp>
      <p:sp>
        <p:nvSpPr>
          <p:cNvPr id="13322" name="Text Box 7"/>
          <p:cNvSpPr txBox="1">
            <a:spLocks noChangeArrowheads="1"/>
          </p:cNvSpPr>
          <p:nvPr/>
        </p:nvSpPr>
        <p:spPr bwMode="auto">
          <a:xfrm>
            <a:off x="6934200" y="3378200"/>
            <a:ext cx="2057400" cy="371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Initiator/ Caller</a:t>
            </a:r>
          </a:p>
        </p:txBody>
      </p:sp>
      <p:sp>
        <p:nvSpPr>
          <p:cNvPr id="13323" name="Line 8"/>
          <p:cNvSpPr>
            <a:spLocks noChangeShapeType="1"/>
          </p:cNvSpPr>
          <p:nvPr/>
        </p:nvSpPr>
        <p:spPr bwMode="auto">
          <a:xfrm flipH="1">
            <a:off x="5103813" y="2844800"/>
            <a:ext cx="1831975" cy="685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3324" name="Line 9"/>
          <p:cNvSpPr>
            <a:spLocks noChangeShapeType="1"/>
          </p:cNvSpPr>
          <p:nvPr/>
        </p:nvSpPr>
        <p:spPr bwMode="auto">
          <a:xfrm flipH="1">
            <a:off x="7467600" y="3898900"/>
            <a:ext cx="46038" cy="14478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3325" name="Text Box 10"/>
          <p:cNvSpPr txBox="1">
            <a:spLocks noChangeArrowheads="1"/>
          </p:cNvSpPr>
          <p:nvPr/>
        </p:nvSpPr>
        <p:spPr bwMode="auto">
          <a:xfrm>
            <a:off x="4800600" y="6032500"/>
            <a:ext cx="2209800" cy="368300"/>
          </a:xfrm>
          <a:prstGeom prst="rect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D" sz="1800" b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Actual parameter</a:t>
            </a:r>
          </a:p>
        </p:txBody>
      </p:sp>
      <p:sp>
        <p:nvSpPr>
          <p:cNvPr id="13326" name="Line 11"/>
          <p:cNvSpPr>
            <a:spLocks noChangeShapeType="1"/>
          </p:cNvSpPr>
          <p:nvPr/>
        </p:nvSpPr>
        <p:spPr bwMode="auto">
          <a:xfrm flipV="1">
            <a:off x="7010400" y="5651500"/>
            <a:ext cx="1219200" cy="5334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3327" name="Text Box 12"/>
          <p:cNvSpPr txBox="1">
            <a:spLocks noChangeArrowheads="1"/>
          </p:cNvSpPr>
          <p:nvPr/>
        </p:nvSpPr>
        <p:spPr bwMode="auto">
          <a:xfrm>
            <a:off x="4343400" y="2146300"/>
            <a:ext cx="2362200" cy="371475"/>
          </a:xfrm>
          <a:prstGeom prst="rect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D" sz="1800" b="1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Formal parameter</a:t>
            </a:r>
          </a:p>
        </p:txBody>
      </p:sp>
      <p:sp>
        <p:nvSpPr>
          <p:cNvPr id="13328" name="Line 13"/>
          <p:cNvSpPr>
            <a:spLocks noChangeShapeType="1"/>
          </p:cNvSpPr>
          <p:nvPr/>
        </p:nvSpPr>
        <p:spPr bwMode="auto">
          <a:xfrm flipH="1">
            <a:off x="3733800" y="2298700"/>
            <a:ext cx="609600" cy="6096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Function Prototype</a:t>
            </a:r>
          </a:p>
        </p:txBody>
      </p:sp>
      <p:sp>
        <p:nvSpPr>
          <p:cNvPr id="1433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EFD2B5-9C8F-4882-81AE-5897784A46C1}" type="slidenum">
              <a:rPr lang="en-US">
                <a:latin typeface="Tahoma" pitchFamily="34" charset="0"/>
                <a:cs typeface="Tahoma" pitchFamily="34" charset="0"/>
              </a:rPr>
              <a:pPr/>
              <a:t>11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4341" name="Rectangle 3"/>
          <p:cNvSpPr txBox="1">
            <a:spLocks noChangeArrowheads="1"/>
          </p:cNvSpPr>
          <p:nvPr/>
        </p:nvSpPr>
        <p:spPr bwMode="auto">
          <a:xfrm>
            <a:off x="914400" y="2103437"/>
            <a:ext cx="8001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Function in C usually written above the initiator/caller or main program. Otherwise should use </a:t>
            </a:r>
            <a:r>
              <a:rPr lang="en-US" sz="2400" b="1" dirty="0">
                <a:latin typeface="Tahoma" pitchFamily="34" charset="0"/>
                <a:cs typeface="Tahoma" pitchFamily="34" charset="0"/>
              </a:rPr>
              <a:t>Function Prototype</a:t>
            </a: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Function Prototype 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Objective:</a:t>
            </a:r>
          </a:p>
          <a:p>
            <a:pPr marL="741363" lvl="1" indent="-284163" defTabSz="45720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To ensure a function is known by the initiator/caller</a:t>
            </a:r>
          </a:p>
          <a:p>
            <a:pPr marL="741363" lvl="1" indent="-284163" defTabSz="45720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i="1" dirty="0">
                <a:latin typeface="Tahoma" pitchFamily="34" charset="0"/>
                <a:cs typeface="Tahoma" pitchFamily="34" charset="0"/>
              </a:rPr>
              <a:t>Compiler 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 will validate the parameters</a:t>
            </a: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Syntax :</a:t>
            </a:r>
          </a:p>
          <a:p>
            <a:pPr defTabSz="457200">
              <a:lnSpc>
                <a:spcPct val="90000"/>
              </a:lnSpc>
              <a:spcBef>
                <a:spcPts val="5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i="1" dirty="0">
                <a:latin typeface="Tahoma" pitchFamily="34" charset="0"/>
                <a:cs typeface="Tahoma" pitchFamily="34" charset="0"/>
              </a:rPr>
              <a:t>	return-value-type  function-name ( parameter-list );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Function Prototype</a:t>
            </a:r>
          </a:p>
        </p:txBody>
      </p:sp>
      <p:sp>
        <p:nvSpPr>
          <p:cNvPr id="1536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79E4EC-9AB1-43D3-B7F8-B304469D5EEB}" type="slidenum">
              <a:rPr lang="en-US">
                <a:latin typeface="Tahoma" pitchFamily="34" charset="0"/>
                <a:cs typeface="Tahoma" pitchFamily="34" charset="0"/>
              </a:rPr>
              <a:pPr/>
              <a:t>12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5" name="Rectangle 3"/>
          <p:cNvSpPr txBox="1">
            <a:spLocks noChangeArrowheads="1"/>
          </p:cNvSpPr>
          <p:nvPr/>
        </p:nvSpPr>
        <p:spPr bwMode="auto">
          <a:xfrm>
            <a:off x="914400" y="1828801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Example 1:</a:t>
            </a: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6" name="Text Box 4"/>
          <p:cNvSpPr txBox="1">
            <a:spLocks noChangeArrowheads="1"/>
          </p:cNvSpPr>
          <p:nvPr/>
        </p:nvSpPr>
        <p:spPr bwMode="auto">
          <a:xfrm>
            <a:off x="914400" y="2286000"/>
            <a:ext cx="6172200" cy="378777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&lt;stdio.h&gt;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maximum (int x, int y){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int max = x;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if ( y &gt; max) 	max = y;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return max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b="1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main () 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int a,b;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printf("Input 2 even values : ");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scanf("%d %d", &amp;a, &amp;b);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printf("Largest value : %d\n",maximum(a,b));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7239000" y="2895600"/>
            <a:ext cx="1828800" cy="224948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25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No need for function prototype as the function placed above initiator (main program)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Function Prototype</a:t>
            </a:r>
          </a:p>
        </p:txBody>
      </p:sp>
      <p:sp>
        <p:nvSpPr>
          <p:cNvPr id="1638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A075A5-3122-44A0-B9BE-32961279C01F}" type="slidenum">
              <a:rPr lang="en-US">
                <a:latin typeface="Tahoma" pitchFamily="34" charset="0"/>
                <a:cs typeface="Tahoma" pitchFamily="34" charset="0"/>
              </a:rPr>
              <a:pPr/>
              <a:t>13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6389" name="Rectangle 3"/>
          <p:cNvSpPr txBox="1">
            <a:spLocks noChangeArrowheads="1"/>
          </p:cNvSpPr>
          <p:nvPr/>
        </p:nvSpPr>
        <p:spPr bwMode="auto">
          <a:xfrm>
            <a:off x="914400" y="1951037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Example 2:</a:t>
            </a: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lnSpc>
                <a:spcPct val="90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914400" y="2290762"/>
            <a:ext cx="6172200" cy="403383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#include&lt;stdio.h&gt;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maximum(int, int);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b="1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main () 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int a,b;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printf("Input 2 even values : ");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scanf("%d %d", &amp;a, &amp;b);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printf("Largest value : %d\n",maximum(a,b));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maximum (int x, int y){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int max = x;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if ( y &gt; max) 	max = y;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return max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16391" name="Text Box 5"/>
          <p:cNvSpPr txBox="1">
            <a:spLocks noChangeArrowheads="1"/>
          </p:cNvSpPr>
          <p:nvPr/>
        </p:nvSpPr>
        <p:spPr bwMode="auto">
          <a:xfrm>
            <a:off x="7239000" y="2290762"/>
            <a:ext cx="1828800" cy="65087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Function Prototype</a:t>
            </a:r>
          </a:p>
        </p:txBody>
      </p:sp>
      <p:sp>
        <p:nvSpPr>
          <p:cNvPr id="16392" name="Line 6"/>
          <p:cNvSpPr>
            <a:spLocks noChangeShapeType="1"/>
          </p:cNvSpPr>
          <p:nvPr/>
        </p:nvSpPr>
        <p:spPr bwMode="auto">
          <a:xfrm flipH="1">
            <a:off x="3733799" y="2519362"/>
            <a:ext cx="3430588" cy="3810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6393" name="Text Box 7"/>
          <p:cNvSpPr txBox="1">
            <a:spLocks noChangeArrowheads="1"/>
          </p:cNvSpPr>
          <p:nvPr/>
        </p:nvSpPr>
        <p:spPr bwMode="auto">
          <a:xfrm>
            <a:off x="7239000" y="3052762"/>
            <a:ext cx="1828800" cy="202406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spcBef>
                <a:spcPts val="1125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Function prototype needed as the function placed below the initiator/caller (Main program)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Function Prototype</a:t>
            </a:r>
          </a:p>
        </p:txBody>
      </p:sp>
      <p:sp>
        <p:nvSpPr>
          <p:cNvPr id="1741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EE8C15-4A6C-4680-B788-D580C308CDE7}" type="slidenum">
              <a:rPr lang="en-US">
                <a:latin typeface="Tahoma" pitchFamily="34" charset="0"/>
                <a:cs typeface="Tahoma" pitchFamily="34" charset="0"/>
              </a:rPr>
              <a:pPr/>
              <a:t>14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3" name="Rectangle 3"/>
          <p:cNvSpPr txBox="1">
            <a:spLocks noChangeArrowheads="1"/>
          </p:cNvSpPr>
          <p:nvPr/>
        </p:nvSpPr>
        <p:spPr bwMode="auto">
          <a:xfrm>
            <a:off x="914400" y="2057400"/>
            <a:ext cx="77724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Function Prototype can be written as follows:</a:t>
            </a: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		</a:t>
            </a:r>
            <a:r>
              <a:rPr lang="id-ID" sz="2000" b="1" dirty="0">
                <a:latin typeface="Tahoma" pitchFamily="34" charset="0"/>
                <a:cs typeface="Tahoma" pitchFamily="34" charset="0"/>
              </a:rPr>
              <a:t>int maximum (int a, int b);</a:t>
            </a: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b="1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Important:</a:t>
            </a:r>
          </a:p>
          <a:p>
            <a:pPr marL="341313" indent="-341313" defTabSz="4572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parameters data type, number of parameters and its order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Identifier Scoping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20A7F7-49B8-4ACF-9A84-D449F9D56116}" type="slidenum">
              <a:rPr lang="en-US">
                <a:latin typeface="Tahoma" pitchFamily="34" charset="0"/>
                <a:cs typeface="Tahoma" pitchFamily="34" charset="0"/>
              </a:rPr>
              <a:pPr/>
              <a:t>15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437" name="Rectangle 3"/>
          <p:cNvSpPr txBox="1">
            <a:spLocks noChangeArrowheads="1"/>
          </p:cNvSpPr>
          <p:nvPr/>
        </p:nvSpPr>
        <p:spPr bwMode="auto">
          <a:xfrm>
            <a:off x="914400" y="2057400"/>
            <a:ext cx="76200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Identifier Scoping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</a:t>
            </a: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scope of identifier is reachable</a:t>
            </a: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Identifier Scoping: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Local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Global</a:t>
            </a:r>
          </a:p>
          <a:p>
            <a:pPr marL="741363" lvl="1" indent="-284163"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Identifier Scoping</a:t>
            </a:r>
          </a:p>
        </p:txBody>
      </p:sp>
      <p:sp>
        <p:nvSpPr>
          <p:cNvPr id="1945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FC85FA-DDAF-4041-B7F5-EAC2D2F12AFD}" type="slidenum">
              <a:rPr lang="en-US">
                <a:latin typeface="Tahoma" pitchFamily="34" charset="0"/>
                <a:cs typeface="Tahoma" pitchFamily="34" charset="0"/>
              </a:rPr>
              <a:pPr/>
              <a:t>16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19461" name="Rectangle 3"/>
          <p:cNvSpPr txBox="1">
            <a:spLocks noChangeArrowheads="1"/>
          </p:cNvSpPr>
          <p:nvPr/>
        </p:nvSpPr>
        <p:spPr bwMode="auto">
          <a:xfrm>
            <a:off x="838200" y="2027237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Local Identifier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Identifier declared in a function including the parameters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Scope limited in the function</a:t>
            </a:r>
            <a:endParaRPr lang="en-US" sz="1800" b="1" dirty="0">
              <a:latin typeface="Tahoma" pitchFamily="34" charset="0"/>
              <a:cs typeface="Tahoma" pitchFamily="34" charset="0"/>
            </a:endParaRPr>
          </a:p>
          <a:p>
            <a:pPr marL="341313" indent="-341313"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b="1" dirty="0">
                <a:latin typeface="Tahoma" pitchFamily="34" charset="0"/>
                <a:cs typeface="Tahoma" pitchFamily="34" charset="0"/>
              </a:rPr>
              <a:t>Global Identifier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Identifier declared outside any function and placed on top of all functions in a C program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Reachable from any point in the program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Global Identifier, can be re-declared in subprogram</a:t>
            </a:r>
          </a:p>
          <a:p>
            <a:pPr marL="741363" lvl="1" indent="-284163" defTabSz="457200">
              <a:spcBef>
                <a:spcPts val="600"/>
              </a:spcBef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It is advisable not to use global variable for the following reasons:</a:t>
            </a:r>
          </a:p>
          <a:p>
            <a:pPr marL="1377950" lvl="2" indent="-463550" defTabSz="457200">
              <a:spcBef>
                <a:spcPts val="450"/>
              </a:spcBef>
              <a:buFont typeface="Tahoma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Error rate might increase as line of code increase.</a:t>
            </a:r>
          </a:p>
          <a:p>
            <a:pPr marL="1377950" lvl="2" indent="-463550" defTabSz="457200">
              <a:spcBef>
                <a:spcPts val="450"/>
              </a:spcBef>
              <a:buFont typeface="Tahoma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Difficult in debugging</a:t>
            </a:r>
          </a:p>
          <a:p>
            <a:pPr marL="1377950" lvl="2" indent="-463550" defTabSz="457200">
              <a:spcBef>
                <a:spcPts val="450"/>
              </a:spcBef>
              <a:buFont typeface="Tahoma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800" dirty="0">
                <a:latin typeface="Tahoma" pitchFamily="34" charset="0"/>
                <a:cs typeface="Tahoma" pitchFamily="34" charset="0"/>
              </a:rPr>
              <a:t>Exclusivity of data is low. All functions in the program can change its value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Identifier Scoping</a:t>
            </a:r>
          </a:p>
        </p:txBody>
      </p:sp>
      <p:sp>
        <p:nvSpPr>
          <p:cNvPr id="204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B64F10-34AD-4AEF-9652-FC6DEC6C604B}" type="slidenum">
              <a:rPr lang="en-US">
                <a:latin typeface="Tahoma" pitchFamily="34" charset="0"/>
                <a:cs typeface="Tahoma" pitchFamily="34" charset="0"/>
              </a:rPr>
              <a:pPr/>
              <a:t>17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486" name="Text Box 9"/>
          <p:cNvSpPr txBox="1">
            <a:spLocks noChangeArrowheads="1"/>
          </p:cNvSpPr>
          <p:nvPr/>
        </p:nvSpPr>
        <p:spPr bwMode="auto">
          <a:xfrm>
            <a:off x="6400800" y="2438400"/>
            <a:ext cx="2209800" cy="341313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scope of variable x</a:t>
            </a:r>
          </a:p>
        </p:txBody>
      </p:sp>
      <p:sp>
        <p:nvSpPr>
          <p:cNvPr id="20487" name="Text Box 10"/>
          <p:cNvSpPr txBox="1">
            <a:spLocks noChangeArrowheads="1"/>
          </p:cNvSpPr>
          <p:nvPr/>
        </p:nvSpPr>
        <p:spPr bwMode="auto">
          <a:xfrm>
            <a:off x="6324600" y="3733800"/>
            <a:ext cx="2057400" cy="341313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scope of variable y</a:t>
            </a:r>
          </a:p>
        </p:txBody>
      </p:sp>
      <p:sp>
        <p:nvSpPr>
          <p:cNvPr id="20488" name="Text Box 11"/>
          <p:cNvSpPr txBox="1">
            <a:spLocks noChangeArrowheads="1"/>
          </p:cNvSpPr>
          <p:nvPr/>
        </p:nvSpPr>
        <p:spPr bwMode="auto">
          <a:xfrm>
            <a:off x="5638800" y="5334001"/>
            <a:ext cx="3429000" cy="586957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z and y scope only in main program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z in main different from function2()</a:t>
            </a:r>
          </a:p>
        </p:txBody>
      </p:sp>
      <p:sp>
        <p:nvSpPr>
          <p:cNvPr id="20489" name="Line 12"/>
          <p:cNvSpPr>
            <a:spLocks noChangeShapeType="1"/>
          </p:cNvSpPr>
          <p:nvPr/>
        </p:nvSpPr>
        <p:spPr bwMode="auto">
          <a:xfrm>
            <a:off x="5486400" y="2590800"/>
            <a:ext cx="9144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20490" name="Text Box 6"/>
          <p:cNvSpPr txBox="1">
            <a:spLocks noChangeArrowheads="1"/>
          </p:cNvSpPr>
          <p:nvPr/>
        </p:nvSpPr>
        <p:spPr bwMode="auto">
          <a:xfrm>
            <a:off x="685800" y="1981200"/>
            <a:ext cx="4800600" cy="4525963"/>
          </a:xfrm>
          <a:prstGeom prst="rect">
            <a:avLst/>
          </a:prstGeom>
          <a:solidFill>
            <a:srgbClr val="CCFFC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b="1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x;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function1(){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-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</p:txBody>
      </p:sp>
      <p:sp>
        <p:nvSpPr>
          <p:cNvPr id="20491" name="Text Box 7"/>
          <p:cNvSpPr txBox="1">
            <a:spLocks noChangeArrowheads="1"/>
          </p:cNvSpPr>
          <p:nvPr/>
        </p:nvSpPr>
        <p:spPr bwMode="auto">
          <a:xfrm>
            <a:off x="1371600" y="3124200"/>
            <a:ext cx="3733800" cy="2863850"/>
          </a:xfrm>
          <a:prstGeom prst="rect">
            <a:avLst/>
          </a:prstGeom>
          <a:solidFill>
            <a:srgbClr val="99CC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y;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function2(){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int z;		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-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</p:txBody>
      </p:sp>
      <p:sp>
        <p:nvSpPr>
          <p:cNvPr id="20492" name="Text Box 8"/>
          <p:cNvSpPr txBox="1">
            <a:spLocks noChangeArrowheads="1"/>
          </p:cNvSpPr>
          <p:nvPr/>
        </p:nvSpPr>
        <p:spPr bwMode="auto">
          <a:xfrm>
            <a:off x="1752600" y="4648200"/>
            <a:ext cx="2819400" cy="1201738"/>
          </a:xfrm>
          <a:prstGeom prst="rect">
            <a:avLst/>
          </a:prstGeom>
          <a:solidFill>
            <a:srgbClr val="FF99CC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main(){			int z;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int y;		-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20493" name="Line 14"/>
          <p:cNvSpPr>
            <a:spLocks noChangeShapeType="1"/>
          </p:cNvSpPr>
          <p:nvPr/>
        </p:nvSpPr>
        <p:spPr bwMode="auto">
          <a:xfrm>
            <a:off x="4572000" y="5518150"/>
            <a:ext cx="1066800" cy="4445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 flipV="1">
            <a:off x="5105400" y="3887788"/>
            <a:ext cx="1219200" cy="746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</a:t>
            </a:r>
          </a:p>
        </p:txBody>
      </p:sp>
      <p:sp>
        <p:nvSpPr>
          <p:cNvPr id="2253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062154-27FA-4331-86AC-477E182AF63C}" type="slidenum">
              <a:rPr lang="en-US">
                <a:latin typeface="Tahoma" pitchFamily="34" charset="0"/>
                <a:cs typeface="Tahoma" pitchFamily="34" charset="0"/>
              </a:rPr>
              <a:pPr/>
              <a:t>18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2533" name="Rectangle 3"/>
          <p:cNvSpPr txBox="1">
            <a:spLocks noChangeArrowheads="1"/>
          </p:cNvSpPr>
          <p:nvPr/>
        </p:nvSpPr>
        <p:spPr bwMode="auto">
          <a:xfrm>
            <a:off x="914400" y="2027237"/>
            <a:ext cx="79248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If a module is not self sufficed then needed data/value and its result passes in and out using parameter(s)</a:t>
            </a:r>
          </a:p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List of parameters is the interface of a module with other modules</a:t>
            </a:r>
          </a:p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Passing Parameter</a:t>
            </a:r>
          </a:p>
          <a:p>
            <a:pPr marL="741363" lvl="1" indent="-284163" defTabSz="457200">
              <a:spcBef>
                <a:spcPts val="600"/>
              </a:spcBef>
              <a:buFont typeface="Tahoma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By-Value,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 sent to other module is the value</a:t>
            </a:r>
          </a:p>
          <a:p>
            <a:pPr marL="741363" lvl="1" indent="-284163" defTabSz="457200">
              <a:spcBef>
                <a:spcPts val="600"/>
              </a:spcBef>
              <a:buFont typeface="Tahoma" pitchFamily="34" charset="0"/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b="1" dirty="0">
                <a:latin typeface="Tahoma" pitchFamily="34" charset="0"/>
                <a:cs typeface="Tahoma" pitchFamily="34" charset="0"/>
              </a:rPr>
              <a:t>By Location/by reference,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 sent to other module is the address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</a:t>
            </a:r>
          </a:p>
        </p:txBody>
      </p:sp>
      <p:sp>
        <p:nvSpPr>
          <p:cNvPr id="2355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B296EA-7616-402C-9B45-1C009C3DBDC3}" type="slidenum">
              <a:rPr lang="en-US">
                <a:latin typeface="Tahoma" pitchFamily="34" charset="0"/>
                <a:cs typeface="Tahoma" pitchFamily="34" charset="0"/>
              </a:rPr>
              <a:pPr/>
              <a:t>19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557" name="Rectangle 3"/>
          <p:cNvSpPr txBox="1">
            <a:spLocks noChangeArrowheads="1"/>
          </p:cNvSpPr>
          <p:nvPr/>
        </p:nvSpPr>
        <p:spPr bwMode="auto">
          <a:xfrm>
            <a:off x="914400" y="18288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Tahoma" pitchFamily="34" charset="0"/>
                <a:cs typeface="Tahoma" pitchFamily="34" charset="0"/>
              </a:rPr>
              <a:t>Example: (Passing Parameter by Value)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914400" y="2286000"/>
            <a:ext cx="7924800" cy="36639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#include &lt;stdio.h&gt;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Line (</a:t>
            </a:r>
            <a:r>
              <a:rPr lang="id-ID" sz="18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char x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) { 	/* x is Formal Parameter*/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	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 int i;		/ *i, x are Local Variabl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e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*/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    for (i = 1; i&lt;=10; i++) printf(“%c”,</a:t>
            </a:r>
            <a:r>
              <a:rPr lang="id-ID" sz="18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x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800" i="1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i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/*Main Program*/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main()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char </a:t>
            </a:r>
            <a:r>
              <a:rPr lang="id-ID" sz="18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A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’-’;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Line(</a:t>
            </a:r>
            <a:r>
              <a:rPr lang="id-ID" sz="1800" b="1" dirty="0">
                <a:solidFill>
                  <a:srgbClr val="0066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A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);</a:t>
            </a:r>
            <a:r>
              <a:rPr lang="id-ID" sz="18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</a:t>
            </a:r>
            <a:r>
              <a:rPr lang="id-ID" sz="18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    /* A is Actual Parameter */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</a:t>
            </a:r>
          </a:p>
        </p:txBody>
      </p:sp>
      <p:sp>
        <p:nvSpPr>
          <p:cNvPr id="2457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E3B07A-AC09-4041-B0E2-914925EF9480}" type="slidenum">
              <a:rPr lang="en-US">
                <a:latin typeface="Tahoma" pitchFamily="34" charset="0"/>
                <a:cs typeface="Tahoma" pitchFamily="34" charset="0"/>
              </a:rPr>
              <a:pPr/>
              <a:t>20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4581" name="Rectangle 3"/>
          <p:cNvSpPr txBox="1">
            <a:spLocks noChangeArrowheads="1"/>
          </p:cNvSpPr>
          <p:nvPr/>
        </p:nvSpPr>
        <p:spPr bwMode="auto">
          <a:xfrm>
            <a:off x="914400" y="1905001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Example: (Passing Parameter by Location)</a:t>
            </a:r>
          </a:p>
        </p:txBody>
      </p:sp>
      <p:sp>
        <p:nvSpPr>
          <p:cNvPr id="24582" name="Text Box 4"/>
          <p:cNvSpPr txBox="1">
            <a:spLocks noChangeArrowheads="1"/>
          </p:cNvSpPr>
          <p:nvPr/>
        </p:nvSpPr>
        <p:spPr bwMode="auto">
          <a:xfrm>
            <a:off x="914400" y="2366962"/>
            <a:ext cx="7924800" cy="403383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#include &lt;stdio.h&gt;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Calculate (int X, int Y, </a:t>
            </a:r>
            <a:r>
              <a:rPr lang="id-ID" sz="1600" b="1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*P, int *Q</a:t>
            </a: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 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*P</a:t>
            </a: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X + Y;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*Q</a:t>
            </a: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 = X * Y;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main()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{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int X, Y, P, Q;       /*local variab</a:t>
            </a:r>
            <a:r>
              <a:rPr lang="en-US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le</a:t>
            </a: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*/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printf(“ X=”); scanf(“%d”,&amp;X);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printf(“ Y=”); scanf(“%d”,&amp;Y);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Calculate(X,Y,</a:t>
            </a:r>
            <a:r>
              <a:rPr lang="id-ID" sz="1600" b="1">
                <a:solidFill>
                  <a:srgbClr val="0000FF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&amp;P,&amp;Q</a:t>
            </a: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);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printf(”X + Y = %d\n”, P);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printf(”X * Y = %d\n”, Q);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Parameter: 1D Array</a:t>
            </a:r>
          </a:p>
        </p:txBody>
      </p:sp>
      <p:sp>
        <p:nvSpPr>
          <p:cNvPr id="2560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9F5170-2BBE-4FC3-8E6F-DF6DAB73AF9A}" type="slidenum">
              <a:rPr lang="en-US">
                <a:latin typeface="Tahoma" pitchFamily="34" charset="0"/>
                <a:cs typeface="Tahoma" pitchFamily="34" charset="0"/>
              </a:rPr>
              <a:pPr/>
              <a:t>21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5605" name="Rectangle 3"/>
          <p:cNvSpPr txBox="1">
            <a:spLocks noChangeArrowheads="1"/>
          </p:cNvSpPr>
          <p:nvPr/>
        </p:nvSpPr>
        <p:spPr bwMode="auto">
          <a:xfrm>
            <a:off x="914400" y="2027237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d-ID" sz="2000" dirty="0">
                <a:latin typeface="Tahoma" pitchFamily="34" charset="0"/>
                <a:cs typeface="Tahoma" pitchFamily="34" charset="0"/>
              </a:rPr>
              <a:t>If an array used as function's parameter, then parameter passing should be done by location</a:t>
            </a: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d-ID" sz="2000" dirty="0">
                <a:latin typeface="Tahoma" pitchFamily="34" charset="0"/>
                <a:cs typeface="Tahoma" pitchFamily="34" charset="0"/>
              </a:rPr>
              <a:t>Example:</a:t>
            </a: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In the example above, A in the main program is a </a:t>
            </a:r>
            <a:r>
              <a:rPr lang="id-ID" sz="2000" b="1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constant pointer</a:t>
            </a: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, on the other hand, A inside print_array is </a:t>
            </a:r>
            <a:r>
              <a:rPr lang="id-ID" sz="2000" b="1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variable pointer</a:t>
            </a: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.</a:t>
            </a:r>
          </a:p>
          <a:p>
            <a:pPr defTabSz="457200"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d-ID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5606" name="Text Box 4"/>
          <p:cNvSpPr txBox="1">
            <a:spLocks noChangeArrowheads="1"/>
          </p:cNvSpPr>
          <p:nvPr/>
        </p:nvSpPr>
        <p:spPr bwMode="auto">
          <a:xfrm>
            <a:off x="1524000" y="3200400"/>
            <a:ext cx="5867400" cy="23098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#include &lt;stdio.h&gt;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print_array(int index, int *A) {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		printf(“A[%d]=%d\n”,index, A[index]);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1600" b="1" dirty="0">
              <a:solidFill>
                <a:srgbClr val="000000"/>
              </a:solidFill>
              <a:latin typeface="Courier New" pitchFamily="49" charset="0"/>
              <a:ea typeface="Arial Unicode MS" pitchFamily="34" charset="-128"/>
              <a:cs typeface="Courier New" pitchFamily="49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void main() {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int A[ ]={1,6,2,8,12};</a:t>
            </a:r>
          </a:p>
          <a:p>
            <a:pPr lvl="1"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print_array(2, A);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1600" b="1" dirty="0">
                <a:solidFill>
                  <a:srgbClr val="000000"/>
                </a:solidFill>
                <a:latin typeface="Courier New" pitchFamily="49" charset="0"/>
                <a:ea typeface="Arial Unicode MS" pitchFamily="34" charset="-128"/>
                <a:cs typeface="Courier New" pitchFamily="49" charset="0"/>
              </a:rPr>
              <a:t>}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Parameter: 2D Array</a:t>
            </a:r>
          </a:p>
        </p:txBody>
      </p:sp>
      <p:sp>
        <p:nvSpPr>
          <p:cNvPr id="2662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001511-0399-4166-ADCA-E9AA0F2E6045}" type="slidenum">
              <a:rPr lang="en-US">
                <a:latin typeface="Tahoma" pitchFamily="34" charset="0"/>
                <a:cs typeface="Tahoma" pitchFamily="34" charset="0"/>
              </a:rPr>
              <a:pPr/>
              <a:t>22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629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The declaration can be: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b="1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		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void matriks(</a:t>
            </a:r>
            <a:r>
              <a:rPr lang="id-ID" sz="2000" dirty="0">
                <a:solidFill>
                  <a:srgbClr val="FF0000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int a[10][10]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, int b, int k)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or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b="1" dirty="0">
                <a:solidFill>
                  <a:srgbClr val="333399"/>
                </a:solidFill>
                <a:latin typeface="Tahoma" pitchFamily="34" charset="0"/>
                <a:cs typeface="Tahoma" pitchFamily="34" charset="0"/>
              </a:rPr>
              <a:t>		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cs typeface="Tahoma" pitchFamily="34" charset="0"/>
              </a:rPr>
              <a:t>void matriks(</a:t>
            </a:r>
            <a:r>
              <a:rPr lang="id-ID" sz="2000" dirty="0">
                <a:solidFill>
                  <a:srgbClr val="FF0000"/>
                </a:solidFill>
                <a:latin typeface="Courier New" pitchFamily="49" charset="0"/>
                <a:cs typeface="Tahoma" pitchFamily="34" charset="0"/>
              </a:rPr>
              <a:t>int a[][10]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cs typeface="Tahoma" pitchFamily="34" charset="0"/>
              </a:rPr>
              <a:t>, int b, int k)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id-ID" sz="2000" dirty="0">
              <a:solidFill>
                <a:srgbClr val="000000"/>
              </a:solidFill>
              <a:latin typeface="Tahoma" pitchFamily="34" charset="0"/>
              <a:cs typeface="Tahoma" pitchFamily="34" charset="0"/>
            </a:endParaRP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But CANNOT be:</a:t>
            </a:r>
          </a:p>
          <a:p>
            <a:pPr defTabSz="45720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b="1" dirty="0">
                <a:solidFill>
                  <a:srgbClr val="333399"/>
                </a:solidFill>
                <a:latin typeface="Tahoma" pitchFamily="34" charset="0"/>
                <a:cs typeface="Tahoma" pitchFamily="34" charset="0"/>
              </a:rPr>
              <a:t>		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cs typeface="Tahoma" pitchFamily="34" charset="0"/>
              </a:rPr>
              <a:t>void matriks(</a:t>
            </a:r>
            <a:r>
              <a:rPr lang="id-ID" sz="2000" dirty="0">
                <a:solidFill>
                  <a:srgbClr val="FF0000"/>
                </a:solidFill>
                <a:latin typeface="Courier New" pitchFamily="49" charset="0"/>
                <a:cs typeface="Tahoma" pitchFamily="34" charset="0"/>
              </a:rPr>
              <a:t>int a[10][]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cs typeface="Tahoma" pitchFamily="34" charset="0"/>
              </a:rPr>
              <a:t>, int b, int k)</a:t>
            </a:r>
          </a:p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or</a:t>
            </a:r>
          </a:p>
          <a:p>
            <a:pPr defTabSz="457200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d-ID" sz="2000" b="1" dirty="0">
                <a:solidFill>
                  <a:srgbClr val="333399"/>
                </a:solidFill>
                <a:latin typeface="Tahoma" pitchFamily="34" charset="0"/>
                <a:cs typeface="Tahoma" pitchFamily="34" charset="0"/>
              </a:rPr>
              <a:t>		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cs typeface="Tahoma" pitchFamily="34" charset="0"/>
              </a:rPr>
              <a:t>void matriks(</a:t>
            </a:r>
            <a:r>
              <a:rPr lang="id-ID" sz="2000" dirty="0">
                <a:solidFill>
                  <a:srgbClr val="FF0000"/>
                </a:solidFill>
                <a:latin typeface="Courier New" pitchFamily="49" charset="0"/>
                <a:cs typeface="Tahoma" pitchFamily="34" charset="0"/>
              </a:rPr>
              <a:t>int a[][]</a:t>
            </a:r>
            <a:r>
              <a:rPr lang="id-ID" sz="2000" dirty="0">
                <a:solidFill>
                  <a:srgbClr val="333399"/>
                </a:solidFill>
                <a:latin typeface="Courier New" pitchFamily="49" charset="0"/>
                <a:cs typeface="Tahoma" pitchFamily="34" charset="0"/>
              </a:rPr>
              <a:t>, int b, int k)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Parameter: 2D Array</a:t>
            </a:r>
          </a:p>
        </p:txBody>
      </p:sp>
      <p:sp>
        <p:nvSpPr>
          <p:cNvPr id="2765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D221C9D-85D1-48C1-A3C1-A121EC9DC019}" type="slidenum">
              <a:rPr lang="en-US">
                <a:latin typeface="Tahoma" pitchFamily="34" charset="0"/>
                <a:cs typeface="Tahoma" pitchFamily="34" charset="0"/>
              </a:rPr>
              <a:pPr/>
              <a:t>23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27653" name="Rectangle 3"/>
          <p:cNvSpPr txBox="1">
            <a:spLocks noChangeArrowheads="1"/>
          </p:cNvSpPr>
          <p:nvPr/>
        </p:nvSpPr>
        <p:spPr bwMode="auto">
          <a:xfrm>
            <a:off x="990600" y="1981200"/>
            <a:ext cx="76962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void print(int A[3][4])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int row,col;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for(row=0; row&lt;3; row++){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    for(col=0; col&lt;4; col++)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d-ID" sz="1600" b="1" dirty="0">
                <a:latin typeface="Courier New" pitchFamily="49" charset="0"/>
                <a:cs typeface="Courier New" pitchFamily="49" charset="0"/>
              </a:rPr>
              <a:t>printf("X[%d][%d]=%d",row,col,A[row][col]);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    printf("\n");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id-ID" sz="1600" b="1" dirty="0">
              <a:latin typeface="Courier New" pitchFamily="49" charset="0"/>
              <a:cs typeface="Courier New" pitchFamily="49" charset="0"/>
            </a:endParaRP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int x[3][4]={{1,2,3,4},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          {8,7,6,5},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             {9,10,11,12}};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print(x);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   return(0);</a:t>
            </a:r>
          </a:p>
          <a:p>
            <a:pPr defTabSz="457200">
              <a:lnSpc>
                <a:spcPct val="80000"/>
              </a:lnSpc>
              <a:spcBef>
                <a:spcPts val="450"/>
              </a:spcBef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id-ID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  <a:cs typeface="Tahoma" pitchFamily="34" charset="0"/>
              </a:rPr>
              <a:t>Passing Parameter</a:t>
            </a:r>
          </a:p>
        </p:txBody>
      </p:sp>
      <p:sp>
        <p:nvSpPr>
          <p:cNvPr id="2867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20F222-4041-4312-ABF1-A419E7B104F6}" type="slidenum">
              <a:rPr lang="en-US">
                <a:latin typeface="Tahoma" pitchFamily="34" charset="0"/>
                <a:cs typeface="Tahoma" pitchFamily="34" charset="0"/>
              </a:rPr>
              <a:pPr/>
              <a:t>24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28600" y="2010134"/>
            <a:ext cx="8839200" cy="3859867"/>
            <a:chOff x="-4082" y="1916113"/>
            <a:chExt cx="9075964" cy="3963255"/>
          </a:xfrm>
        </p:grpSpPr>
        <p:sp>
          <p:nvSpPr>
            <p:cNvPr id="28678" name="Text Box 3"/>
            <p:cNvSpPr txBox="1">
              <a:spLocks noChangeArrowheads="1"/>
            </p:cNvSpPr>
            <p:nvPr/>
          </p:nvSpPr>
          <p:spPr bwMode="auto">
            <a:xfrm>
              <a:off x="-4082" y="3886200"/>
              <a:ext cx="4423682" cy="1993168"/>
            </a:xfrm>
            <a:prstGeom prst="rect">
              <a:avLst/>
            </a:prstGeom>
            <a:noFill/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void rotate( </a:t>
              </a:r>
              <a:r>
                <a:rPr lang="id-ID" b="1" dirty="0">
                  <a:solidFill>
                    <a:srgbClr val="FF33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char ss[ ]</a:t>
              </a: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)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{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int c,i,j;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for(i=0, j=strlen(ss)-1; i&lt;j; i++, j--)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	    {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    c=ss[i];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    ss[i]=ss[j];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    ss[j]=c;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}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}</a:t>
              </a:r>
            </a:p>
          </p:txBody>
        </p:sp>
        <p:sp>
          <p:nvSpPr>
            <p:cNvPr id="28679" name="Text Box 4"/>
            <p:cNvSpPr txBox="1">
              <a:spLocks noChangeArrowheads="1"/>
            </p:cNvSpPr>
            <p:nvPr/>
          </p:nvSpPr>
          <p:spPr bwMode="auto">
            <a:xfrm>
              <a:off x="4572000" y="3886200"/>
              <a:ext cx="4499882" cy="1993168"/>
            </a:xfrm>
            <a:prstGeom prst="rect">
              <a:avLst/>
            </a:prstGeom>
            <a:noFill/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void rotate( </a:t>
              </a:r>
              <a:r>
                <a:rPr lang="id-ID" b="1" dirty="0">
                  <a:solidFill>
                    <a:srgbClr val="FF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char *ss</a:t>
              </a: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)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{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int c,i,j;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for(i=0, j=strlen(ss)-1; i&lt;j; i++, j--)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{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    c=ss[i];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    ss[i]=ss[j];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    ss[j]=c;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}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}</a:t>
              </a:r>
            </a:p>
          </p:txBody>
        </p:sp>
        <p:sp>
          <p:nvSpPr>
            <p:cNvPr id="28680" name="Text Box 5"/>
            <p:cNvSpPr txBox="1">
              <a:spLocks noChangeArrowheads="1"/>
            </p:cNvSpPr>
            <p:nvPr/>
          </p:nvSpPr>
          <p:spPr bwMode="auto">
            <a:xfrm>
              <a:off x="2590800" y="1916113"/>
              <a:ext cx="3048000" cy="1817687"/>
            </a:xfrm>
            <a:prstGeom prst="rect">
              <a:avLst/>
            </a:prstGeom>
            <a:noFill/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int main()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{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char ss[20]="KASUR";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rotate(ss);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printf("%s\n",ss);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getch();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    return(0);</a:t>
              </a:r>
            </a:p>
            <a:p>
              <a:pPr defTabSz="457200"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id-ID" sz="1400" b="1" dirty="0">
                  <a:solidFill>
                    <a:srgbClr val="000000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}</a:t>
              </a:r>
            </a:p>
          </p:txBody>
        </p:sp>
        <p:sp>
          <p:nvSpPr>
            <p:cNvPr id="28681" name="Freeform 6"/>
            <p:cNvSpPr>
              <a:spLocks/>
            </p:cNvSpPr>
            <p:nvPr/>
          </p:nvSpPr>
          <p:spPr bwMode="auto">
            <a:xfrm>
              <a:off x="1714500" y="2743200"/>
              <a:ext cx="1333500" cy="1066800"/>
            </a:xfrm>
            <a:custGeom>
              <a:avLst/>
              <a:gdLst>
                <a:gd name="T0" fmla="*/ 2147483647 w 744"/>
                <a:gd name="T1" fmla="*/ 0 h 1152"/>
                <a:gd name="T2" fmla="*/ 2147483647 w 744"/>
                <a:gd name="T3" fmla="*/ 2147483647 h 1152"/>
                <a:gd name="T4" fmla="*/ 2147483647 w 744"/>
                <a:gd name="T5" fmla="*/ 2147483647 h 1152"/>
                <a:gd name="T6" fmla="*/ 0 60000 65536"/>
                <a:gd name="T7" fmla="*/ 0 60000 65536"/>
                <a:gd name="T8" fmla="*/ 0 60000 65536"/>
                <a:gd name="T9" fmla="*/ 0 w 744"/>
                <a:gd name="T10" fmla="*/ 0 h 1152"/>
                <a:gd name="T11" fmla="*/ 744 w 744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4" h="1152">
                  <a:moveTo>
                    <a:pt x="744" y="0"/>
                  </a:moveTo>
                  <a:cubicBezTo>
                    <a:pt x="492" y="24"/>
                    <a:pt x="240" y="48"/>
                    <a:pt x="120" y="240"/>
                  </a:cubicBezTo>
                  <a:cubicBezTo>
                    <a:pt x="0" y="432"/>
                    <a:pt x="40" y="1008"/>
                    <a:pt x="24" y="1152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8682" name="Text Box 7"/>
            <p:cNvSpPr txBox="1">
              <a:spLocks noChangeArrowheads="1"/>
            </p:cNvSpPr>
            <p:nvPr/>
          </p:nvSpPr>
          <p:spPr bwMode="auto">
            <a:xfrm>
              <a:off x="6096000" y="2057400"/>
              <a:ext cx="2667000" cy="882650"/>
            </a:xfrm>
            <a:prstGeom prst="rect">
              <a:avLst/>
            </a:prstGeom>
            <a:solidFill>
              <a:srgbClr val="3366FF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defTabSz="457200">
                <a:spcBef>
                  <a:spcPts val="1125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>
                  <a:solidFill>
                    <a:srgbClr val="FFFFFF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string as formal parameter :</a:t>
              </a:r>
            </a:p>
            <a:p>
              <a:pPr defTabSz="457200">
                <a:spcBef>
                  <a:spcPts val="1125"/>
                </a:spcBef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>
                  <a:solidFill>
                    <a:srgbClr val="FFFFFF"/>
                  </a:solidFill>
                  <a:latin typeface="Courier New" pitchFamily="49" charset="0"/>
                  <a:ea typeface="Arial Unicode MS" pitchFamily="34" charset="-128"/>
                  <a:cs typeface="Courier New" pitchFamily="49" charset="0"/>
                </a:rPr>
                <a:t>char[ ] or char *</a:t>
              </a:r>
            </a:p>
          </p:txBody>
        </p:sp>
        <p:sp>
          <p:nvSpPr>
            <p:cNvPr id="28683" name="Freeform 8"/>
            <p:cNvSpPr>
              <a:spLocks/>
            </p:cNvSpPr>
            <p:nvPr/>
          </p:nvSpPr>
          <p:spPr bwMode="auto">
            <a:xfrm>
              <a:off x="5029200" y="2743200"/>
              <a:ext cx="1295400" cy="1066800"/>
            </a:xfrm>
            <a:custGeom>
              <a:avLst/>
              <a:gdLst>
                <a:gd name="T0" fmla="*/ 0 w 1488"/>
                <a:gd name="T1" fmla="*/ 0 h 1152"/>
                <a:gd name="T2" fmla="*/ 2147483647 w 1488"/>
                <a:gd name="T3" fmla="*/ 2147483647 h 1152"/>
                <a:gd name="T4" fmla="*/ 2147483647 w 1488"/>
                <a:gd name="T5" fmla="*/ 2147483647 h 1152"/>
                <a:gd name="T6" fmla="*/ 0 60000 65536"/>
                <a:gd name="T7" fmla="*/ 0 60000 65536"/>
                <a:gd name="T8" fmla="*/ 0 60000 65536"/>
                <a:gd name="T9" fmla="*/ 0 w 1488"/>
                <a:gd name="T10" fmla="*/ 0 h 1152"/>
                <a:gd name="T11" fmla="*/ 1488 w 1488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152">
                  <a:moveTo>
                    <a:pt x="0" y="0"/>
                  </a:moveTo>
                  <a:cubicBezTo>
                    <a:pt x="428" y="24"/>
                    <a:pt x="856" y="48"/>
                    <a:pt x="1104" y="240"/>
                  </a:cubicBezTo>
                  <a:cubicBezTo>
                    <a:pt x="1352" y="432"/>
                    <a:pt x="1420" y="792"/>
                    <a:pt x="1488" y="1152"/>
                  </a:cubicBezTo>
                </a:path>
              </a:pathLst>
            </a:custGeom>
            <a:noFill/>
            <a:ln w="2844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sz="2800" b="1">
                <a:latin typeface="Tahoma" pitchFamily="34" charset="0"/>
                <a:cs typeface="Tahoma" pitchFamily="34" charset="0"/>
              </a:rPr>
              <a:t>References</a:t>
            </a:r>
          </a:p>
        </p:txBody>
      </p:sp>
      <p:sp>
        <p:nvSpPr>
          <p:cNvPr id="4608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7FECB5-8EB1-4513-A1DC-AA9AFC6F3DDB}" type="slidenum">
              <a:rPr lang="id-ID">
                <a:latin typeface="Tahoma" pitchFamily="34" charset="0"/>
                <a:cs typeface="Tahoma" pitchFamily="34" charset="0"/>
              </a:rPr>
              <a:pPr/>
              <a:t>25</a:t>
            </a:fld>
            <a:endParaRPr lang="id-ID">
              <a:latin typeface="Tahoma" pitchFamily="34" charset="0"/>
              <a:cs typeface="Tahoma" pitchFamily="34" charset="0"/>
            </a:endParaRP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d-ID" sz="2000" dirty="0">
                <a:latin typeface="Tahoma" pitchFamily="34" charset="0"/>
                <a:cs typeface="Tahoma" pitchFamily="34" charset="0"/>
              </a:rPr>
              <a:t>Paul J. Dietel,Harvey M. Deitel,. 2010. C : how to program. PEAPH. New Jersey. ISBN:978-0-13-705966-9 Chapter 5 </a:t>
            </a:r>
          </a:p>
          <a:p>
            <a:pPr marL="0" indent="0">
              <a:buNone/>
            </a:pPr>
            <a:endParaRPr lang="id-ID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710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A3698B-E368-48F7-B972-BA0247488D98}" type="slidenum">
              <a:rPr lang="en-US">
                <a:latin typeface="Tahoma" pitchFamily="34" charset="0"/>
                <a:cs typeface="Tahoma" pitchFamily="34" charset="0"/>
              </a:rPr>
              <a:pPr/>
              <a:t>26</a:t>
            </a:fld>
            <a:endParaRPr 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ctr"/>
            <a:endParaRPr lang="en-US" sz="3200" b="1">
              <a:latin typeface="Tahoma" pitchFamily="34" charset="0"/>
              <a:cs typeface="Tahoma" pitchFamily="34" charset="0"/>
            </a:endParaRPr>
          </a:p>
          <a:p>
            <a:pPr marL="0" indent="0" algn="ctr"/>
            <a:endParaRPr lang="en-US" sz="3200" b="1">
              <a:latin typeface="Tahoma" pitchFamily="34" charset="0"/>
              <a:cs typeface="Tahoma" pitchFamily="34" charset="0"/>
            </a:endParaRPr>
          </a:p>
          <a:p>
            <a:pPr marL="0" indent="0" algn="ctr">
              <a:buFontTx/>
              <a:buNone/>
            </a:pPr>
            <a:r>
              <a:rPr lang="en-US" sz="3200" b="1">
                <a:latin typeface="Tahoma" pitchFamily="34" charset="0"/>
                <a:cs typeface="Tahoma" pitchFamily="34" charset="0"/>
              </a:rPr>
              <a:t>END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id-ID" dirty="0">
                <a:latin typeface="+mn-lt"/>
              </a:rPr>
              <a:t>COMP6047 </a:t>
            </a:r>
            <a:r>
              <a:rPr lang="en-US" dirty="0">
                <a:latin typeface="+mn-lt"/>
              </a:rPr>
              <a:t>- Algorithm and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B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1013</TotalTime>
  <Words>1913</Words>
  <Application>Microsoft Office PowerPoint</Application>
  <PresentationFormat>On-screen Show (4:3)</PresentationFormat>
  <Paragraphs>390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Courier New</vt:lpstr>
      <vt:lpstr>Interstate</vt:lpstr>
      <vt:lpstr>Open Sans</vt:lpstr>
      <vt:lpstr>Tahoma</vt:lpstr>
      <vt:lpstr>Times New Roman</vt:lpstr>
      <vt:lpstr>TemplateBM</vt:lpstr>
      <vt:lpstr>Function</vt:lpstr>
      <vt:lpstr>Learning Outcomes</vt:lpstr>
      <vt:lpstr>Sub Topics</vt:lpstr>
      <vt:lpstr>Modular Programming</vt:lpstr>
      <vt:lpstr>Modular Programming</vt:lpstr>
      <vt:lpstr>Modular Programming</vt:lpstr>
      <vt:lpstr>Library vs User-Defined Function</vt:lpstr>
      <vt:lpstr>Library vs User-Defined Function</vt:lpstr>
      <vt:lpstr>Function Definition</vt:lpstr>
      <vt:lpstr>Function Definition</vt:lpstr>
      <vt:lpstr>Function Prototype</vt:lpstr>
      <vt:lpstr>Function Prototype</vt:lpstr>
      <vt:lpstr>Function Prototype</vt:lpstr>
      <vt:lpstr>Function Prototype</vt:lpstr>
      <vt:lpstr>Identifier Scoping</vt:lpstr>
      <vt:lpstr>Identifier Scoping</vt:lpstr>
      <vt:lpstr>Identifier Scoping</vt:lpstr>
      <vt:lpstr>Passing Parameter</vt:lpstr>
      <vt:lpstr>Passing Parameter</vt:lpstr>
      <vt:lpstr>Passing Parameter</vt:lpstr>
      <vt:lpstr>Passing Parameter: 1D Array</vt:lpstr>
      <vt:lpstr>Passing Parameter: 2D Array</vt:lpstr>
      <vt:lpstr>Passing Parameter: 2D Array</vt:lpstr>
      <vt:lpstr>Passing Parameter</vt:lpstr>
      <vt:lpstr>References</vt:lpstr>
      <vt:lpstr>PowerPoint Presentation</vt:lpstr>
    </vt:vector>
  </TitlesOfParts>
  <Company>ubinus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Zulfany Erlisa Rasjid</cp:lastModifiedBy>
  <cp:revision>112</cp:revision>
  <dcterms:created xsi:type="dcterms:W3CDTF">2009-07-15T08:07:45Z</dcterms:created>
  <dcterms:modified xsi:type="dcterms:W3CDTF">2022-11-04T15:46:01Z</dcterms:modified>
</cp:coreProperties>
</file>