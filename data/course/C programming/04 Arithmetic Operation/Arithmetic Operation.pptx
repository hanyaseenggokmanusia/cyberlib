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8793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58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6505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153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43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39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383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D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212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771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73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306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4915CE1-9E5B-40A7-B7D5-FAC598EEC107}" type="datetimeFigureOut">
              <a:rPr lang="en-ID" smtClean="0"/>
              <a:t>24/09/2022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C57B4CB-01F3-4283-982A-0C2493CA88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218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ksforgeeks.org/operators-c-c/" TargetMode="External"/><Relationship Id="rId2" Type="http://schemas.openxmlformats.org/officeDocument/2006/relationships/hyperlink" Target="https://www.w3schools.com/c/c_operators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186F-3871-7EFC-1787-06803D040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Arithmetic Operation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B53C2-2A4F-7918-D266-355F5D361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sz="1800" i="0" dirty="0">
                <a:effectLst/>
                <a:latin typeface="Arial" panose="020B0604020202020204" pitchFamily="34" charset="0"/>
              </a:rPr>
              <a:t>Kartika Purwandari, S.Kom., M.Sc.</a:t>
            </a:r>
          </a:p>
          <a:p>
            <a:endParaRPr lang="sv-SE" sz="1800" dirty="0">
              <a:latin typeface="Arial" panose="020B0604020202020204" pitchFamily="34" charset="0"/>
            </a:endParaRPr>
          </a:p>
          <a:p>
            <a:r>
              <a:rPr lang="sv-SE" sz="1800" dirty="0">
                <a:latin typeface="Arial" panose="020B0604020202020204" pitchFamily="34" charset="0"/>
              </a:rPr>
              <a:t>kartika.purwandari@binus.ac.id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385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5396-AC64-F64A-29C5-4105C2EC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F116-F219-8301-4760-4127FD564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Operator and Operand Introduction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Assignment Operators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Arithmetic Operators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Relational Operators </a:t>
            </a:r>
          </a:p>
        </p:txBody>
      </p:sp>
    </p:spTree>
    <p:extLst>
      <p:ext uri="{BB962C8B-B14F-4D97-AF65-F5344CB8AC3E}">
        <p14:creationId xmlns:p14="http://schemas.microsoft.com/office/powerpoint/2010/main" val="363316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8274-2189-A8BB-06CF-09A4E3F5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B1D4D-A834-BD44-22AB-2DEC67881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Now we have knowledge to store values into variables, get input from user and show the values stored in variable</a:t>
            </a:r>
          </a:p>
          <a:p>
            <a:endParaRPr lang="en-US" sz="2000" dirty="0"/>
          </a:p>
          <a:p>
            <a:r>
              <a:rPr lang="en-US" sz="2000" dirty="0"/>
              <a:t>What If we want to use manipulate the variables like addition? </a:t>
            </a:r>
          </a:p>
          <a:p>
            <a:endParaRPr lang="en-US" sz="2000" dirty="0"/>
          </a:p>
          <a:p>
            <a:r>
              <a:rPr lang="en-US" sz="2000" dirty="0"/>
              <a:t>We can use mechanism called “</a:t>
            </a:r>
            <a:r>
              <a:rPr lang="en-US" sz="2000" b="1" dirty="0"/>
              <a:t>Operator</a:t>
            </a:r>
            <a:r>
              <a:rPr lang="en-US" sz="2000" dirty="0"/>
              <a:t>”</a:t>
            </a:r>
          </a:p>
          <a:p>
            <a:endParaRPr lang="en-ID" dirty="0"/>
          </a:p>
          <a:p>
            <a:r>
              <a:rPr lang="en-US" dirty="0"/>
              <a:t>An operator is a symbol used to perform operations between operands like +, -, *, /, and etc.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4055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359F-88A5-A472-C051-A7883113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Operand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77CDB-1570-97F0-C42A-15DCD32F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056"/>
            <a:ext cx="10515600" cy="352254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52525"/>
                </a:solidFill>
                <a:effectLst/>
                <a:latin typeface="Open Sans" panose="020B0606030504020204" pitchFamily="34" charset="0"/>
              </a:rPr>
              <a:t>An operand specifies an entity on which an operation is to be performed.</a:t>
            </a:r>
          </a:p>
          <a:p>
            <a:r>
              <a:rPr lang="en-US" b="0" i="0" dirty="0">
                <a:solidFill>
                  <a:srgbClr val="252525"/>
                </a:solidFill>
                <a:effectLst/>
                <a:latin typeface="Open Sans" panose="020B0606030504020204" pitchFamily="34" charset="0"/>
              </a:rPr>
              <a:t>An operand can be a variable name.</a:t>
            </a:r>
          </a:p>
          <a:p>
            <a:endParaRPr lang="en-US" dirty="0">
              <a:solidFill>
                <a:srgbClr val="252525"/>
              </a:solidFill>
              <a:latin typeface="Open Sans" panose="020B0606030504020204" pitchFamily="34" charset="0"/>
            </a:endParaRPr>
          </a:p>
          <a:p>
            <a:r>
              <a:rPr lang="en-US" dirty="0">
                <a:solidFill>
                  <a:srgbClr val="252525"/>
                </a:solidFill>
                <a:latin typeface="Open Sans" panose="020B0606030504020204" pitchFamily="34" charset="0"/>
              </a:rPr>
              <a:t>Example:</a:t>
            </a:r>
          </a:p>
          <a:p>
            <a:pPr lvl="1"/>
            <a:r>
              <a:rPr lang="en-US" b="0" i="0" dirty="0">
                <a:solidFill>
                  <a:srgbClr val="252525"/>
                </a:solidFill>
                <a:effectLst/>
                <a:latin typeface="Open Sans" panose="020B0606030504020204" pitchFamily="34" charset="0"/>
              </a:rPr>
              <a:t>for example a=b+c+d+2; </a:t>
            </a:r>
          </a:p>
          <a:p>
            <a:pPr lvl="2"/>
            <a:r>
              <a:rPr lang="en-US" b="0" i="0" dirty="0">
                <a:solidFill>
                  <a:srgbClr val="252525"/>
                </a:solidFill>
                <a:effectLst/>
                <a:latin typeface="Open Sans" panose="020B0606030504020204" pitchFamily="34" charset="0"/>
              </a:rPr>
              <a:t>in this statement, a, b, c, d, 2 are the operands, </a:t>
            </a:r>
          </a:p>
          <a:p>
            <a:pPr lvl="2"/>
            <a:r>
              <a:rPr lang="en-US" b="0" i="0" dirty="0">
                <a:solidFill>
                  <a:srgbClr val="252525"/>
                </a:solidFill>
                <a:effectLst/>
                <a:latin typeface="Open Sans" panose="020B0606030504020204" pitchFamily="34" charset="0"/>
              </a:rPr>
              <a:t>and =,+ are the operators.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1854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2D3C-8D60-1B1C-B855-252BBFFB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cs typeface="Tahoma" panose="020B0604030504040204" pitchFamily="34" charset="0"/>
              </a:rPr>
              <a:t>Assignment Operators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2C9FF-BDEE-3614-1BE1-CC4E65AA7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/>
            <a:r>
              <a:rPr lang="en-US" altLang="en-US" sz="2600" dirty="0">
                <a:cs typeface="Tahoma" panose="020B0604030504040204" pitchFamily="34" charset="0"/>
              </a:rPr>
              <a:t>A binary operator</a:t>
            </a:r>
          </a:p>
          <a:p>
            <a:pPr eaLnBrk="1" hangingPunct="1">
              <a:buFontTx/>
              <a:buNone/>
            </a:pPr>
            <a:endParaRPr lang="en-US" altLang="en-US" sz="2600" dirty="0">
              <a:cs typeface="Tahoma" panose="020B0604030504040204" pitchFamily="34" charset="0"/>
            </a:endParaRPr>
          </a:p>
          <a:p>
            <a:pPr eaLnBrk="1" hangingPunct="1"/>
            <a:r>
              <a:rPr lang="en-US" altLang="en-US" sz="2600" dirty="0">
                <a:cs typeface="Tahoma" panose="020B0604030504040204" pitchFamily="34" charset="0"/>
              </a:rPr>
              <a:t>Used in assigning value to an operand</a:t>
            </a:r>
          </a:p>
          <a:p>
            <a:pPr eaLnBrk="1" hangingPunct="1">
              <a:buFontTx/>
              <a:buNone/>
            </a:pPr>
            <a:r>
              <a:rPr lang="en-US" altLang="en-US" sz="2600" dirty="0">
                <a:cs typeface="Tahoma" panose="020B0604030504040204" pitchFamily="34" charset="0"/>
              </a:rPr>
              <a:t>	Syntax:</a:t>
            </a:r>
          </a:p>
          <a:p>
            <a:pPr lvl="2" eaLnBrk="1" hangingPunct="1">
              <a:buFontTx/>
              <a:buNone/>
            </a:pPr>
            <a:r>
              <a:rPr lang="en-US" altLang="en-US" sz="2600" b="1" dirty="0">
                <a:cs typeface="Tahoma" panose="020B0604030504040204" pitchFamily="34" charset="0"/>
              </a:rPr>
              <a:t>Operand1 = Operand2;</a:t>
            </a:r>
          </a:p>
          <a:p>
            <a:pPr lvl="2" eaLnBrk="1" hangingPunct="1">
              <a:buFontTx/>
              <a:buNone/>
            </a:pPr>
            <a:endParaRPr lang="en-US" altLang="en-US" sz="2600" b="1" dirty="0">
              <a:cs typeface="Tahoma" panose="020B0604030504040204" pitchFamily="34" charset="0"/>
            </a:endParaRPr>
          </a:p>
          <a:p>
            <a:pPr eaLnBrk="1" hangingPunct="1"/>
            <a:r>
              <a:rPr lang="en-US" altLang="en-US" sz="2600" dirty="0">
                <a:cs typeface="Tahoma" panose="020B0604030504040204" pitchFamily="34" charset="0"/>
              </a:rPr>
              <a:t>Left hand side operand (</a:t>
            </a:r>
            <a:r>
              <a:rPr lang="en-US" altLang="en-US" sz="2600" b="1" dirty="0">
                <a:cs typeface="Tahoma" panose="020B0604030504040204" pitchFamily="34" charset="0"/>
              </a:rPr>
              <a:t>Operand1</a:t>
            </a:r>
            <a:r>
              <a:rPr lang="en-US" altLang="en-US" sz="2600" dirty="0">
                <a:cs typeface="Tahoma" panose="020B0604030504040204" pitchFamily="34" charset="0"/>
              </a:rPr>
              <a:t>) should have (L-Value) such as variable</a:t>
            </a:r>
          </a:p>
          <a:p>
            <a:pPr eaLnBrk="1" hangingPunct="1">
              <a:buFontTx/>
              <a:buNone/>
            </a:pPr>
            <a:endParaRPr lang="en-US" altLang="en-US" sz="2600" dirty="0">
              <a:cs typeface="Tahoma" panose="020B0604030504040204" pitchFamily="34" charset="0"/>
            </a:endParaRPr>
          </a:p>
          <a:p>
            <a:pPr eaLnBrk="1" hangingPunct="1"/>
            <a:r>
              <a:rPr lang="en-US" altLang="en-US" sz="2600" dirty="0">
                <a:cs typeface="Tahoma" panose="020B0604030504040204" pitchFamily="34" charset="0"/>
              </a:rPr>
              <a:t>Right hand side operand (</a:t>
            </a:r>
            <a:r>
              <a:rPr lang="en-US" altLang="en-US" sz="2600" b="1" dirty="0">
                <a:cs typeface="Tahoma" panose="020B0604030504040204" pitchFamily="34" charset="0"/>
              </a:rPr>
              <a:t>Operand2</a:t>
            </a:r>
            <a:r>
              <a:rPr lang="en-US" altLang="en-US" sz="2600" dirty="0">
                <a:cs typeface="Tahoma" panose="020B0604030504040204" pitchFamily="34" charset="0"/>
              </a:rPr>
              <a:t>) can be constant, another variable, expression or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9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A2AA-8AA8-C3F6-7C68-D886F6D7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cs typeface="Tahoma" panose="020B0604030504040204" pitchFamily="34" charset="0"/>
              </a:rPr>
              <a:t>Assignment Operators (cont..)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3BF82-D776-33B3-7786-F6A8BDFBB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eaLnBrk="1" hangingPunct="1"/>
            <a:r>
              <a:rPr lang="en-US" altLang="en-US" sz="2600" dirty="0">
                <a:cs typeface="Tahoma" panose="020B0604030504040204" pitchFamily="34" charset="0"/>
              </a:rPr>
              <a:t>Example:</a:t>
            </a:r>
          </a:p>
          <a:p>
            <a:pPr lvl="2" eaLnBrk="1" hangingPunct="1">
              <a:buFontTx/>
              <a:buNone/>
            </a:pPr>
            <a:r>
              <a:rPr lang="en-US" altLang="en-US" sz="2600" dirty="0">
                <a:cs typeface="Tahoma" panose="020B0604030504040204" pitchFamily="34" charset="0"/>
              </a:rPr>
              <a:t>x = 2;			// constant</a:t>
            </a:r>
          </a:p>
          <a:p>
            <a:pPr lvl="2" eaLnBrk="1" hangingPunct="1">
              <a:buFontTx/>
              <a:buNone/>
            </a:pPr>
            <a:r>
              <a:rPr lang="en-US" altLang="en-US" sz="2600" dirty="0">
                <a:cs typeface="Tahoma" panose="020B0604030504040204" pitchFamily="34" charset="0"/>
              </a:rPr>
              <a:t>x = y;			// other variable</a:t>
            </a:r>
          </a:p>
          <a:p>
            <a:pPr lvl="2" eaLnBrk="1" hangingPunct="1">
              <a:buFontTx/>
              <a:buNone/>
            </a:pPr>
            <a:r>
              <a:rPr lang="en-US" altLang="en-US" sz="2600" dirty="0">
                <a:cs typeface="Tahoma" panose="020B0604030504040204" pitchFamily="34" charset="0"/>
              </a:rPr>
              <a:t>x = 2 * y;		// expression</a:t>
            </a:r>
          </a:p>
          <a:p>
            <a:pPr lvl="2" eaLnBrk="1" hangingPunct="1">
              <a:buFontTx/>
              <a:buNone/>
            </a:pPr>
            <a:r>
              <a:rPr lang="en-US" altLang="en-US" sz="2600" dirty="0">
                <a:cs typeface="Tahoma" panose="020B0604030504040204" pitchFamily="34" charset="0"/>
              </a:rPr>
              <a:t>x = sin (y);		// function</a:t>
            </a:r>
          </a:p>
          <a:p>
            <a:pPr lvl="2" eaLnBrk="1" hangingPunct="1"/>
            <a:endParaRPr lang="en-US" altLang="en-US" sz="2600" dirty="0">
              <a:cs typeface="Tahoma" panose="020B0604030504040204" pitchFamily="34" charset="0"/>
            </a:endParaRPr>
          </a:p>
          <a:p>
            <a:pPr eaLnBrk="1" hangingPunct="1"/>
            <a:r>
              <a:rPr lang="en-US" altLang="en-US" sz="2600" dirty="0">
                <a:cs typeface="Tahoma" panose="020B0604030504040204" pitchFamily="34" charset="0"/>
              </a:rPr>
              <a:t>Type of the result will follow the left hand side operand</a:t>
            </a:r>
          </a:p>
          <a:p>
            <a:pPr lvl="2" eaLnBrk="1" hangingPunct="1">
              <a:buFontTx/>
              <a:buNone/>
            </a:pPr>
            <a:r>
              <a:rPr lang="id-ID" altLang="en-US" sz="2600" b="1" dirty="0">
                <a:cs typeface="Tahoma" panose="020B0604030504040204" pitchFamily="34" charset="0"/>
              </a:rPr>
              <a:t>int</a:t>
            </a:r>
            <a:r>
              <a:rPr lang="id-ID" altLang="en-US" sz="2600" dirty="0">
                <a:cs typeface="Tahoma" panose="020B0604030504040204" pitchFamily="34" charset="0"/>
              </a:rPr>
              <a:t> </a:t>
            </a:r>
            <a:r>
              <a:rPr lang="en-US" altLang="en-US" sz="2600" dirty="0">
                <a:cs typeface="Tahoma" panose="020B0604030504040204" pitchFamily="34" charset="0"/>
              </a:rPr>
              <a:t>x = 7/2;   	/*x value is 3 not 3.5*/</a:t>
            </a:r>
          </a:p>
          <a:p>
            <a:pPr lvl="2" eaLnBrk="1" hangingPunct="1">
              <a:buFontTx/>
              <a:buNone/>
            </a:pPr>
            <a:r>
              <a:rPr lang="en-US" altLang="en-US" sz="2600" b="1" dirty="0">
                <a:cs typeface="Tahoma" panose="020B0604030504040204" pitchFamily="34" charset="0"/>
              </a:rPr>
              <a:t>float</a:t>
            </a:r>
            <a:r>
              <a:rPr lang="en-US" altLang="en-US" sz="2600" dirty="0">
                <a:cs typeface="Tahoma" panose="020B0604030504040204" pitchFamily="34" charset="0"/>
              </a:rPr>
              <a:t> y = 3;	/*y value is 3.000 */</a:t>
            </a:r>
          </a:p>
        </p:txBody>
      </p:sp>
    </p:spTree>
    <p:extLst>
      <p:ext uri="{BB962C8B-B14F-4D97-AF65-F5344CB8AC3E}">
        <p14:creationId xmlns:p14="http://schemas.microsoft.com/office/powerpoint/2010/main" val="292124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23BB-883F-6020-5996-2B6E0F7A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Arithmetic </a:t>
            </a:r>
            <a:r>
              <a:rPr lang="en-US" b="1" dirty="0"/>
              <a:t>Operators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48E1E-444E-4416-FCF6-9698975B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Open Sans"/>
              </a:rPr>
              <a:t>An operator is a symbol that tells the compiler to perform specific mathematical or logical manipulations. C language is rich in built-in operators and provides the following types of operators: </a:t>
            </a:r>
          </a:p>
          <a:p>
            <a:endParaRPr lang="en-ID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470BCE-6C28-3B9F-4E78-60D46390CF00}"/>
              </a:ext>
            </a:extLst>
          </p:cNvPr>
          <p:cNvGrpSpPr/>
          <p:nvPr/>
        </p:nvGrpSpPr>
        <p:grpSpPr>
          <a:xfrm>
            <a:off x="4274908" y="3737511"/>
            <a:ext cx="6269973" cy="2338610"/>
            <a:chOff x="1219200" y="3683766"/>
            <a:chExt cx="8640766" cy="271243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7D927C-EBE9-5872-A12A-CB7A8D749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9200" y="3683766"/>
              <a:ext cx="8634248" cy="189262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39919C-B0C5-8A0B-5CAE-7E2E7ABA3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5576394"/>
              <a:ext cx="8640766" cy="8198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24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B3FC-E8F5-F40F-E484-D6A6268D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cs typeface="Tahoma" panose="020B0604030504040204" pitchFamily="34" charset="0"/>
              </a:rPr>
              <a:t>Arithmetic Operators  (cont..)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1B897-5E2B-C302-2D04-7238F16FF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63550" indent="-463550">
              <a:lnSpc>
                <a:spcPct val="80000"/>
              </a:lnSpc>
              <a:spcBef>
                <a:spcPts val="400"/>
              </a:spcBef>
              <a:defRPr/>
            </a:pPr>
            <a:r>
              <a:rPr lang="en-US" sz="2600" b="1" dirty="0">
                <a:cs typeface="Tahoma" pitchFamily="34" charset="0"/>
              </a:rPr>
              <a:t>Modulo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Symbol : %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Binary operator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To find reminder of a division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N % 2, can be used to find an odd or even number</a:t>
            </a:r>
          </a:p>
          <a:p>
            <a:pPr marL="1201738" lvl="2" indent="-287338">
              <a:lnSpc>
                <a:spcPct val="80000"/>
              </a:lnSpc>
              <a:spcBef>
                <a:spcPts val="400"/>
              </a:spcBef>
              <a:buFont typeface="Wingdings" pitchFamily="2" charset="2"/>
              <a:buChar char="§"/>
              <a:defRPr/>
            </a:pPr>
            <a:r>
              <a:rPr lang="en-US" sz="2600" dirty="0">
                <a:cs typeface="Tahoma" pitchFamily="34" charset="0"/>
              </a:rPr>
              <a:t>N % 2 = 0 </a:t>
            </a:r>
            <a:r>
              <a:rPr lang="en-US" sz="2600" dirty="0">
                <a:cs typeface="Tahoma" pitchFamily="34" charset="0"/>
                <a:sym typeface="Symbol" pitchFamily="18" charset="2"/>
              </a:rPr>
              <a:t>  N is even</a:t>
            </a:r>
          </a:p>
          <a:p>
            <a:pPr marL="1201738" lvl="2" indent="-287338">
              <a:lnSpc>
                <a:spcPct val="80000"/>
              </a:lnSpc>
              <a:spcBef>
                <a:spcPts val="400"/>
              </a:spcBef>
              <a:buFont typeface="Wingdings" pitchFamily="2" charset="2"/>
              <a:buChar char="§"/>
              <a:defRPr/>
            </a:pPr>
            <a:r>
              <a:rPr lang="en-US" sz="2600" dirty="0">
                <a:cs typeface="Tahoma" pitchFamily="34" charset="0"/>
                <a:sym typeface="Symbol" pitchFamily="18" charset="2"/>
              </a:rPr>
              <a:t>N % 2 = 1   N is odd</a:t>
            </a:r>
          </a:p>
          <a:p>
            <a:pPr marL="463550" indent="-463550">
              <a:lnSpc>
                <a:spcPct val="80000"/>
              </a:lnSpc>
              <a:spcBef>
                <a:spcPts val="400"/>
              </a:spcBef>
              <a:defRPr/>
            </a:pPr>
            <a:r>
              <a:rPr lang="en-US" sz="2600" b="1" dirty="0">
                <a:cs typeface="Tahoma" pitchFamily="34" charset="0"/>
              </a:rPr>
              <a:t>Increment and Decrement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Symbol : ++(increment), --(decrement)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Unary operator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Increase (++) and decrease (--) the value of a variable by 1.</a:t>
            </a:r>
          </a:p>
          <a:p>
            <a:pPr marL="804863" lvl="1" indent="-347663">
              <a:lnSpc>
                <a:spcPct val="80000"/>
              </a:lnSpc>
              <a:spcBef>
                <a:spcPts val="400"/>
              </a:spcBef>
              <a:buFont typeface="Tahoma" pitchFamily="34" charset="0"/>
              <a:buChar char="–"/>
              <a:defRPr/>
            </a:pPr>
            <a:r>
              <a:rPr lang="en-US" sz="2600" dirty="0">
                <a:cs typeface="Tahoma" pitchFamily="34" charset="0"/>
              </a:rPr>
              <a:t>Its position can be in the front (pre) or after (post) a variable.</a:t>
            </a:r>
          </a:p>
          <a:p>
            <a:pPr eaLnBrk="1" hangingPunct="1">
              <a:defRPr/>
            </a:pPr>
            <a:endParaRPr lang="en-US" sz="2600" dirty="0">
              <a:cs typeface="Tahoma" pitchFamily="34" charset="0"/>
            </a:endParaRPr>
          </a:p>
          <a:p>
            <a:endParaRPr lang="en-US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471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8601-4EA7-64F1-C5EC-25BACB54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endParaRPr lang="en-ID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CCF39716-A918-D8E1-D36A-30AACB782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8" y="2713372"/>
            <a:ext cx="4621152" cy="2904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F9F68-61DE-DD80-8A56-54E66E7478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731"/>
          <a:stretch/>
        </p:blipFill>
        <p:spPr>
          <a:xfrm>
            <a:off x="6855751" y="4778397"/>
            <a:ext cx="4332036" cy="127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75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B137-6613-38ED-D3FC-81F6FBB4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Relational Operators</a:t>
            </a:r>
            <a:endParaRPr lang="en-ID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2FA5FDC6-D8E8-89BD-B33A-42D38F76F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3856" y="2876483"/>
            <a:ext cx="6244287" cy="322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0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1B94-D7F6-CE98-07E3-5FD7C90C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D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3BCFEEE2-209C-6687-BF80-4BF5AAF5A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2147" y="2089374"/>
            <a:ext cx="4507706" cy="477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3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F747-94D6-9546-BEE0-A663FF6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2297-7C05-35AA-E425-96F1D11F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C Operators (w3schools.com)</a:t>
            </a:r>
            <a:endParaRPr lang="en-ID" dirty="0"/>
          </a:p>
          <a:p>
            <a:r>
              <a:rPr lang="en-ID" b="0" i="0" dirty="0">
                <a:solidFill>
                  <a:srgbClr val="006621"/>
                </a:solidFill>
                <a:effectLst/>
                <a:latin typeface="Roboto" panose="02000000000000000000" pitchFamily="2" charset="0"/>
                <a:hlinkClick r:id="rId3"/>
              </a:rPr>
              <a:t>www.geeksforgeeks.org/operators-c-c/</a:t>
            </a:r>
            <a:endParaRPr lang="en-ID" b="0" i="0" dirty="0">
              <a:solidFill>
                <a:srgbClr val="006621"/>
              </a:solidFill>
              <a:effectLst/>
              <a:latin typeface="Roboto" panose="02000000000000000000" pitchFamily="2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4660458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77</TotalTime>
  <Words>435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Gill Sans MT</vt:lpstr>
      <vt:lpstr>Open Sans</vt:lpstr>
      <vt:lpstr>Roboto</vt:lpstr>
      <vt:lpstr>Tahoma</vt:lpstr>
      <vt:lpstr>Wingdings</vt:lpstr>
      <vt:lpstr>Parcel</vt:lpstr>
      <vt:lpstr>Arithmetic Operation</vt:lpstr>
      <vt:lpstr>Outlines</vt:lpstr>
      <vt:lpstr>Operator</vt:lpstr>
      <vt:lpstr>Operand</vt:lpstr>
      <vt:lpstr>Assignment Operators</vt:lpstr>
      <vt:lpstr>Assignment Operators (cont..)</vt:lpstr>
      <vt:lpstr>Arithmetic Operators</vt:lpstr>
      <vt:lpstr>Arithmetic Operators  (cont..)</vt:lpstr>
      <vt:lpstr>Examples</vt:lpstr>
      <vt:lpstr>Relational Operators</vt:lpstr>
      <vt:lpstr>Example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Arithmetic Operation</dc:title>
  <dc:creator>Kartika Purwandari</dc:creator>
  <cp:lastModifiedBy>Kartika Purwandari</cp:lastModifiedBy>
  <cp:revision>3</cp:revision>
  <dcterms:created xsi:type="dcterms:W3CDTF">2022-09-14T06:51:06Z</dcterms:created>
  <dcterms:modified xsi:type="dcterms:W3CDTF">2022-09-24T07:06:12Z</dcterms:modified>
</cp:coreProperties>
</file>